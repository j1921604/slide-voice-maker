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96" r:id="rId5"/>
    <p:sldId id="298" r:id="rId6"/>
    <p:sldId id="300" r:id="rId7"/>
    <p:sldId id="301" r:id="rId8"/>
    <p:sldId id="307" r:id="rId9"/>
  </p:sldIdLst>
  <p:sldSz cx="12192000" cy="6858000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296"/>
            <p14:sldId id="298"/>
            <p14:sldId id="300"/>
            <p14:sldId id="301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3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8E541-7EE4-696C-4541-D8043EE4D57E}" v="71" dt="2026-01-22T08:34:01.517"/>
    <p1510:client id="{B6A426B0-F9D3-A09C-BBFE-34C1874824CC}" v="124" dt="2026-01-22T08:29:10.910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河合 寿人(Hisato Kawai)" userId="S::j1933501@jera.co.jp::216780ff-c138-4097-8a2b-a6d3fac060ac" providerId="AD" clId="Web-{B6A426B0-F9D3-A09C-BBFE-34C1874824CC}"/>
    <pc:docChg chg="modSld">
      <pc:chgData name="河合 寿人(Hisato Kawai)" userId="S::j1933501@jera.co.jp::216780ff-c138-4097-8a2b-a6d3fac060ac" providerId="AD" clId="Web-{B6A426B0-F9D3-A09C-BBFE-34C1874824CC}" dt="2026-01-22T08:29:10.910" v="123" actId="20577"/>
      <pc:docMkLst>
        <pc:docMk/>
      </pc:docMkLst>
      <pc:sldChg chg="modSp">
        <pc:chgData name="河合 寿人(Hisato Kawai)" userId="S::j1933501@jera.co.jp::216780ff-c138-4097-8a2b-a6d3fac060ac" providerId="AD" clId="Web-{B6A426B0-F9D3-A09C-BBFE-34C1874824CC}" dt="2026-01-22T08:29:10.910" v="123" actId="20577"/>
        <pc:sldMkLst>
          <pc:docMk/>
          <pc:sldMk cId="0" sldId="298"/>
        </pc:sldMkLst>
        <pc:spChg chg="mod">
          <ac:chgData name="河合 寿人(Hisato Kawai)" userId="S::j1933501@jera.co.jp::216780ff-c138-4097-8a2b-a6d3fac060ac" providerId="AD" clId="Web-{B6A426B0-F9D3-A09C-BBFE-34C1874824CC}" dt="2026-01-22T08:29:10.910" v="123" actId="20577"/>
          <ac:spMkLst>
            <pc:docMk/>
            <pc:sldMk cId="0" sldId="298"/>
            <ac:spMk id="4" creationId="{00000000-0000-0000-0000-000000000000}"/>
          </ac:spMkLst>
        </pc:spChg>
      </pc:sldChg>
    </pc:docChg>
  </pc:docChgLst>
  <pc:docChgLst>
    <pc:chgData name="河合 寿人(Hisato Kawai)" userId="S::j1933501@jera.co.jp::216780ff-c138-4097-8a2b-a6d3fac060ac" providerId="AD" clId="Web-{6E88E541-7EE4-696C-4541-D8043EE4D57E}"/>
    <pc:docChg chg="modSld">
      <pc:chgData name="河合 寿人(Hisato Kawai)" userId="S::j1933501@jera.co.jp::216780ff-c138-4097-8a2b-a6d3fac060ac" providerId="AD" clId="Web-{6E88E541-7EE4-696C-4541-D8043EE4D57E}" dt="2026-01-22T08:34:01.517" v="70" actId="20577"/>
      <pc:docMkLst>
        <pc:docMk/>
      </pc:docMkLst>
      <pc:sldChg chg="modSp">
        <pc:chgData name="河合 寿人(Hisato Kawai)" userId="S::j1933501@jera.co.jp::216780ff-c138-4097-8a2b-a6d3fac060ac" providerId="AD" clId="Web-{6E88E541-7EE4-696C-4541-D8043EE4D57E}" dt="2026-01-22T08:34:01.517" v="70" actId="20577"/>
        <pc:sldMkLst>
          <pc:docMk/>
          <pc:sldMk cId="0" sldId="298"/>
        </pc:sldMkLst>
        <pc:spChg chg="mod">
          <ac:chgData name="河合 寿人(Hisato Kawai)" userId="S::j1933501@jera.co.jp::216780ff-c138-4097-8a2b-a6d3fac060ac" providerId="AD" clId="Web-{6E88E541-7EE4-696C-4541-D8043EE4D57E}" dt="2026-01-22T08:34:01.517" v="70" actId="20577"/>
          <ac:spMkLst>
            <pc:docMk/>
            <pc:sldMk cId="0" sldId="298"/>
            <ac:spMk id="4" creationId="{00000000-0000-0000-0000-000000000000}"/>
          </ac:spMkLst>
        </pc:spChg>
      </pc:sldChg>
    </pc:docChg>
  </pc:docChgLst>
  <pc:docChgLst>
    <pc:chgData name="河合 寿人(Hisato Kawai)" userId="216780ff-c138-4097-8a2b-a6d3fac060ac" providerId="ADAL" clId="{A3D3B053-CA31-4356-8216-5D21C50B19F4}"/>
    <pc:docChg chg="modSld">
      <pc:chgData name="河合 寿人(Hisato Kawai)" userId="216780ff-c138-4097-8a2b-a6d3fac060ac" providerId="ADAL" clId="{A3D3B053-CA31-4356-8216-5D21C50B19F4}" dt="2026-01-22T08:30:04.109" v="7" actId="255"/>
      <pc:docMkLst>
        <pc:docMk/>
      </pc:docMkLst>
      <pc:sldChg chg="modSp mod">
        <pc:chgData name="河合 寿人(Hisato Kawai)" userId="216780ff-c138-4097-8a2b-a6d3fac060ac" providerId="ADAL" clId="{A3D3B053-CA31-4356-8216-5D21C50B19F4}" dt="2026-01-22T08:30:04.109" v="7" actId="255"/>
        <pc:sldMkLst>
          <pc:docMk/>
          <pc:sldMk cId="0" sldId="298"/>
        </pc:sldMkLst>
        <pc:spChg chg="mod">
          <ac:chgData name="河合 寿人(Hisato Kawai)" userId="216780ff-c138-4097-8a2b-a6d3fac060ac" providerId="ADAL" clId="{A3D3B053-CA31-4356-8216-5D21C50B19F4}" dt="2026-01-22T08:30:04.109" v="7" actId="255"/>
          <ac:spMkLst>
            <pc:docMk/>
            <pc:sldMk cId="0" sldId="298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190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20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/>
          <p:cNvGrpSpPr>
            <a:grpSpLocks noGrp="1" noUngrp="1" noRot="1" noMove="1" noResize="1"/>
          </p:cNvGrpSpPr>
          <p:nvPr userDrawn="1"/>
        </p:nvGrpSpPr>
        <p:grpSpPr>
          <a:xfrm>
            <a:off x="-1" y="0"/>
            <a:ext cx="12191999" cy="6858000"/>
            <a:chOff x="-1" y="0"/>
            <a:chExt cx="12191999" cy="6858000"/>
          </a:xfrm>
        </p:grpSpPr>
        <p:pic>
          <p:nvPicPr>
            <p:cNvPr id="4" name="図 3" descr="クロスワードパズル, テキスト, 建物, 大きい が含まれている画像&#10;&#10;自動的に生成された説明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2">
              <a:alphaModFix amt="50000"/>
            </a:blip>
            <a:srcRect l="52126" t="11706" b="3961"/>
            <a:stretch>
              <a:fillRect/>
            </a:stretch>
          </p:blipFill>
          <p:spPr>
            <a:xfrm>
              <a:off x="6355079" y="0"/>
              <a:ext cx="5836919" cy="6858000"/>
            </a:xfrm>
            <a:prstGeom prst="rect">
              <a:avLst/>
            </a:prstGeom>
          </p:spPr>
        </p:pic>
        <p:grpSp>
          <p:nvGrpSpPr>
            <p:cNvPr id="10" name="グループ化 9"/>
            <p:cNvGrpSpPr>
              <a:grpSpLocks noGrp="1" noUngrp="1" noRot="1" noMove="1" noResize="1"/>
            </p:cNvGrpSpPr>
            <p:nvPr userDrawn="1"/>
          </p:nvGrpSpPr>
          <p:grpSpPr>
            <a:xfrm>
              <a:off x="-1" y="0"/>
              <a:ext cx="6355081" cy="6858000"/>
              <a:chOff x="-1" y="0"/>
              <a:chExt cx="6355081" cy="6858000"/>
            </a:xfrm>
          </p:grpSpPr>
          <p:sp>
            <p:nvSpPr>
              <p:cNvPr id="8" name="正方形/長方形 7"/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" y="6553199"/>
                <a:ext cx="6355079" cy="3048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pic>
            <p:nvPicPr>
              <p:cNvPr id="9" name="図 8" descr="クロスワードパズル, テキスト, 建物, 大きい が含まれている画像&#10;&#10;自動的に生成された説明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 rotWithShape="1">
              <a:blip r:embed="rId2">
                <a:alphaModFix amt="50000"/>
              </a:blip>
              <a:srcRect t="11706" r="47875" b="3961"/>
              <a:stretch>
                <a:fillRect/>
              </a:stretch>
            </p:blipFill>
            <p:spPr>
              <a:xfrm>
                <a:off x="-1" y="0"/>
                <a:ext cx="6355079" cy="6858000"/>
              </a:xfrm>
              <a:prstGeom prst="rect">
                <a:avLst/>
              </a:prstGeom>
            </p:spPr>
          </p:pic>
        </p:grpSp>
        <p:pic>
          <p:nvPicPr>
            <p:cNvPr id="13" name="図 12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988" y="432833"/>
              <a:ext cx="1295400" cy="698500"/>
            </a:xfrm>
            <a:prstGeom prst="rect">
              <a:avLst/>
            </a:prstGeom>
          </p:spPr>
        </p:pic>
      </p:grpSp>
      <p:sp>
        <p:nvSpPr>
          <p:cNvPr id="6" name="タイトル 1"/>
          <p:cNvSpPr>
            <a:spLocks noGrp="1"/>
          </p:cNvSpPr>
          <p:nvPr userDrawn="1">
            <p:ph type="ctrTitle" hasCustomPrompt="1"/>
          </p:nvPr>
        </p:nvSpPr>
        <p:spPr>
          <a:xfrm>
            <a:off x="658813" y="2855743"/>
            <a:ext cx="10874376" cy="720000"/>
          </a:xfrm>
          <a:prstGeom prst="rect">
            <a:avLst/>
          </a:prstGeom>
        </p:spPr>
        <p:txBody>
          <a:bodyPr vert="horz" lIns="0" tIns="36000" rIns="0" bIns="0" anchor="ctr">
            <a:noAutofit/>
          </a:bodyPr>
          <a:lstStyle>
            <a:lvl1pPr algn="l">
              <a:defRPr sz="3600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7" name="サブタイトル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58813" y="3602038"/>
            <a:ext cx="10874376" cy="407254"/>
          </a:xfrm>
          <a:prstGeom prst="rect">
            <a:avLst/>
          </a:prstGeom>
        </p:spPr>
        <p:txBody>
          <a:bodyPr lIns="0" tIns="36000" rIns="0" bIns="0" anchor="ctr"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4" y="203480"/>
            <a:ext cx="11269661" cy="3318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658813" y="625823"/>
            <a:ext cx="11269662" cy="3901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144145" indent="-144145" algn="l">
              <a:lnSpc>
                <a:spcPct val="110000"/>
              </a:lnSpc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リード文</a:t>
            </a:r>
            <a:endParaRPr kumimoji="1" lang="en-US" altLang="ja-JP"/>
          </a:p>
          <a:p>
            <a:r>
              <a:rPr kumimoji="1" lang="ja-JP" altLang="en-US"/>
              <a:t>リード文</a:t>
            </a:r>
          </a:p>
        </p:txBody>
      </p:sp>
      <p:grpSp>
        <p:nvGrpSpPr>
          <p:cNvPr id="16" name="グループ化 15"/>
          <p:cNvGrpSpPr>
            <a:grpSpLocks noGrp="1" noUngrp="1" noRot="1" noMove="1" noResize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6" name="直線コネクタ 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グループ化 10"/>
            <p:cNvGrpSpPr>
              <a:grpSpLocks noGrp="1" noUngrp="1" noRot="1" noMove="1" noResize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2" name="図 11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3" name="直線コネクタ 12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80508" y="218366"/>
            <a:ext cx="11247967" cy="7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grpSp>
        <p:nvGrpSpPr>
          <p:cNvPr id="15" name="グループ化 14"/>
          <p:cNvGrpSpPr>
            <a:grpSpLocks noGrp="1" noUngrp="1" noRot="1" noMove="1" noResize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16" name="直線コネクタ 1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/>
            <p:cNvGrpSpPr>
              <a:grpSpLocks noGrp="1" noUngrp="1" noRot="1" noMove="1" noResize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8" name="図 17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9" name="直線コネクタ 18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電子機器, 回路 が含まれている画像&#10;&#10;自動的に生成された説明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50000"/>
          </a:blip>
          <a:srcRect t="11788" b="38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タイトル 1"/>
          <p:cNvSpPr>
            <a:spLocks noGrp="1"/>
          </p:cNvSpPr>
          <p:nvPr>
            <p:ph type="title" hasCustomPrompt="1"/>
          </p:nvPr>
        </p:nvSpPr>
        <p:spPr>
          <a:xfrm>
            <a:off x="658812" y="3126265"/>
            <a:ext cx="10874376" cy="627743"/>
          </a:xfrm>
          <a:prstGeom prst="rect">
            <a:avLst/>
          </a:prstGeom>
        </p:spPr>
        <p:txBody>
          <a:bodyPr lIns="0" tIns="72000" rIns="0" bIns="0" anchor="t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rofi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>
            <a:grpSpLocks noGrp="1" noUngrp="1" noRot="1" noMove="1" noResize="1"/>
          </p:cNvGrpSpPr>
          <p:nvPr userDrawn="1"/>
        </p:nvGrpSpPr>
        <p:grpSpPr>
          <a:xfrm>
            <a:off x="0" y="-61131"/>
            <a:ext cx="12192001" cy="6980262"/>
            <a:chOff x="0" y="-61131"/>
            <a:chExt cx="12192001" cy="6980262"/>
          </a:xfrm>
        </p:grpSpPr>
        <p:grpSp>
          <p:nvGrpSpPr>
            <p:cNvPr id="3" name="グループ化 2"/>
            <p:cNvGrpSpPr>
              <a:grpSpLocks noGrp="1" noUngrp="1" noRot="1" noMove="1" noResize="1"/>
            </p:cNvGrpSpPr>
            <p:nvPr/>
          </p:nvGrpSpPr>
          <p:grpSpPr>
            <a:xfrm>
              <a:off x="0" y="-3548"/>
              <a:ext cx="4287668" cy="6867338"/>
              <a:chOff x="0" y="-3548"/>
              <a:chExt cx="4287668" cy="6867338"/>
            </a:xfrm>
          </p:grpSpPr>
          <p:sp>
            <p:nvSpPr>
              <p:cNvPr id="5" name="正方形/長方形 4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281714" cy="6858000"/>
              </a:xfrm>
              <a:prstGeom prst="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grpSp>
            <p:nvGrpSpPr>
              <p:cNvPr id="6" name="グループ化 5"/>
              <p:cNvGrpSpPr>
                <a:grpSpLocks noGrp="1" noUngrp="1" noRot="1" noMove="1" noResize="1"/>
              </p:cNvGrpSpPr>
              <p:nvPr/>
            </p:nvGrpSpPr>
            <p:grpSpPr>
              <a:xfrm>
                <a:off x="0" y="-3548"/>
                <a:ext cx="4287668" cy="1270837"/>
                <a:chOff x="0" y="-3547"/>
                <a:chExt cx="3248580" cy="962858"/>
              </a:xfrm>
            </p:grpSpPr>
            <p:sp>
              <p:nvSpPr>
                <p:cNvPr id="11" name="フリーフォーム: 図形 10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5400000">
                  <a:off x="1142861" y="-1146408"/>
                  <a:ext cx="962858" cy="3248580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2" name="図 11" descr="挿絵 が含まれている画像&#10;&#10;自動的に生成された説明"/>
                <p:cNvPicPr>
                  <a:picLocks noGrp="1" noRot="1" noMove="1" noResize="1" noEditPoints="1" noAdjustHandles="1" noChangeArrowheads="1" noChangeShapeType="1" noCrop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79524" y="192969"/>
                  <a:ext cx="569913" cy="212923"/>
                </a:xfrm>
                <a:prstGeom prst="rect">
                  <a:avLst/>
                </a:prstGeom>
              </p:spPr>
            </p:pic>
          </p:grpSp>
          <p:grpSp>
            <p:nvGrpSpPr>
              <p:cNvPr id="7" name="グループ化 6"/>
              <p:cNvGrpSpPr>
                <a:grpSpLocks noGrp="1" noUngrp="1" noRot="1" noMove="1" noResize="1"/>
              </p:cNvGrpSpPr>
              <p:nvPr/>
            </p:nvGrpSpPr>
            <p:grpSpPr>
              <a:xfrm>
                <a:off x="1076136" y="5913194"/>
                <a:ext cx="3205581" cy="950596"/>
                <a:chOff x="1076136" y="5913194"/>
                <a:chExt cx="3205581" cy="950596"/>
              </a:xfrm>
            </p:grpSpPr>
            <p:sp>
              <p:nvSpPr>
                <p:cNvPr id="8" name="フリーフォーム: 図形 7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203868" y="4785462"/>
                  <a:ext cx="950113" cy="3205578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フリーフォーム: 図形 8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651959" y="5234031"/>
                  <a:ext cx="745220" cy="2514297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フリーフォーム: 図形 9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3008682" y="5590756"/>
                  <a:ext cx="582105" cy="1963964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4" name="正方形/長方形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81623" y="-61131"/>
              <a:ext cx="7910378" cy="698026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10800000" algn="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ja-JP" altLang="en-US" sz="1600"/>
            </a:p>
          </p:txBody>
        </p:sp>
      </p:grpSp>
      <p:cxnSp>
        <p:nvCxnSpPr>
          <p:cNvPr id="13" name="直線コネクタ 12"/>
          <p:cNvCxnSpPr/>
          <p:nvPr userDrawn="1"/>
        </p:nvCxnSpPr>
        <p:spPr>
          <a:xfrm>
            <a:off x="4745458" y="4527642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 userDrawn="1"/>
        </p:nvCxnSpPr>
        <p:spPr>
          <a:xfrm>
            <a:off x="4745458" y="2371857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グラフィックス 2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82856"/>
            <a:ext cx="134494" cy="338554"/>
          </a:xfrm>
          <a:prstGeom prst="rect">
            <a:avLst/>
          </a:prstGeom>
        </p:spPr>
      </p:pic>
      <p:pic>
        <p:nvPicPr>
          <p:cNvPr id="24" name="グラフィックス 2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647163"/>
            <a:ext cx="134494" cy="338554"/>
          </a:xfrm>
          <a:prstGeom prst="rect">
            <a:avLst/>
          </a:prstGeom>
        </p:spPr>
      </p:pic>
      <p:pic>
        <p:nvPicPr>
          <p:cNvPr id="27" name="グラフィックス 2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4802948"/>
            <a:ext cx="134494" cy="338554"/>
          </a:xfrm>
          <a:prstGeom prst="rect">
            <a:avLst/>
          </a:prstGeom>
        </p:spPr>
      </p:pic>
      <p:cxnSp>
        <p:nvCxnSpPr>
          <p:cNvPr id="38" name="直線コネクタ 37"/>
          <p:cNvCxnSpPr/>
          <p:nvPr userDrawn="1"/>
        </p:nvCxnSpPr>
        <p:spPr>
          <a:xfrm>
            <a:off x="809481" y="4383178"/>
            <a:ext cx="2910692" cy="0"/>
          </a:xfrm>
          <a:prstGeom prst="line">
            <a:avLst/>
          </a:prstGeom>
          <a:ln w="12700" cap="rnd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プレースホルダー 3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09481" y="4644534"/>
            <a:ext cx="2910692" cy="685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戦略部</a:t>
            </a:r>
          </a:p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計画ガバナンス</a:t>
            </a:r>
            <a:r>
              <a:rPr kumimoji="1" lang="en-US" altLang="ja-JP"/>
              <a:t>U</a:t>
            </a:r>
          </a:p>
        </p:txBody>
      </p:sp>
      <p:sp>
        <p:nvSpPr>
          <p:cNvPr id="41" name="テキスト プレースホルダー 3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09481" y="3725765"/>
            <a:ext cx="2910692" cy="4691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2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姓姓　名名</a:t>
            </a:r>
          </a:p>
        </p:txBody>
      </p:sp>
      <p:sp>
        <p:nvSpPr>
          <p:cNvPr id="44" name="テキスト プレースホルダー 3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045807" y="3171906"/>
            <a:ext cx="6882668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</a:p>
          <a:p>
            <a:pPr lvl="0"/>
            <a:r>
              <a:rPr kumimoji="1" lang="en-US" altLang="ja-JP"/>
              <a:t>XXX</a:t>
            </a:r>
          </a:p>
          <a:p>
            <a:pPr lvl="0"/>
            <a:r>
              <a:rPr kumimoji="1" lang="en-US" altLang="ja-JP"/>
              <a:t>XXX</a:t>
            </a:r>
          </a:p>
        </p:txBody>
      </p:sp>
      <p:sp>
        <p:nvSpPr>
          <p:cNvPr id="45" name="テキスト プレースホルダー 3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045807" y="5326255"/>
            <a:ext cx="3205579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</a:p>
          <a:p>
            <a:pPr lvl="0"/>
            <a:r>
              <a:rPr kumimoji="1" lang="en-US" altLang="ja-JP"/>
              <a:t>XXX</a:t>
            </a:r>
          </a:p>
          <a:p>
            <a:pPr lvl="0"/>
            <a:r>
              <a:rPr kumimoji="1" lang="en-US" altLang="ja-JP"/>
              <a:t>XXX</a:t>
            </a:r>
          </a:p>
        </p:txBody>
      </p:sp>
      <p:sp>
        <p:nvSpPr>
          <p:cNvPr id="47" name="テキスト プレースホルダー 3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45807" y="806162"/>
            <a:ext cx="852819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2025.01</a:t>
            </a:r>
          </a:p>
          <a:p>
            <a:pPr lvl="0"/>
            <a:endParaRPr kumimoji="1" lang="en-US" altLang="ja-JP"/>
          </a:p>
          <a:p>
            <a:pPr lvl="0"/>
            <a:r>
              <a:rPr kumimoji="1" lang="en-US" altLang="ja-JP"/>
              <a:t>2025.02</a:t>
            </a:r>
          </a:p>
          <a:p>
            <a:pPr lvl="0"/>
            <a:r>
              <a:rPr kumimoji="1" lang="en-US" altLang="ja-JP"/>
              <a:t>2025.03</a:t>
            </a:r>
          </a:p>
        </p:txBody>
      </p:sp>
      <p:sp>
        <p:nvSpPr>
          <p:cNvPr id="48" name="テキスト プレースホルダー 3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989320" y="806162"/>
            <a:ext cx="5939155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JERA</a:t>
            </a:r>
            <a:r>
              <a:rPr kumimoji="1" lang="ja-JP" altLang="en-US"/>
              <a:t>入社●●配属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</a:p>
          <a:p>
            <a:pPr lvl="0"/>
            <a:r>
              <a:rPr kumimoji="1" lang="en-US" altLang="ja-JP"/>
              <a:t>XXX</a:t>
            </a:r>
          </a:p>
          <a:p>
            <a:pPr lvl="0"/>
            <a:r>
              <a:rPr kumimoji="1" lang="en-US" altLang="ja-JP"/>
              <a:t>XXX</a:t>
            </a:r>
          </a:p>
        </p:txBody>
      </p:sp>
      <p:sp>
        <p:nvSpPr>
          <p:cNvPr id="52" name="テキスト ボックス 51"/>
          <p:cNvSpPr txBox="1"/>
          <p:nvPr userDrawn="1"/>
        </p:nvSpPr>
        <p:spPr>
          <a:xfrm>
            <a:off x="1730772" y="2146609"/>
            <a:ext cx="1068110" cy="500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Face Photo</a:t>
            </a:r>
          </a:p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6×6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53" name="テキスト プレースホルダー 39"/>
          <p:cNvSpPr>
            <a:spLocks noGrp="1"/>
          </p:cNvSpPr>
          <p:nvPr>
            <p:ph type="body" sz="quarter" idx="17" hasCustomPrompt="1"/>
          </p:nvPr>
        </p:nvSpPr>
        <p:spPr>
          <a:xfrm>
            <a:off x="5045807" y="2647339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主な担当業務</a:t>
            </a:r>
            <a:endParaRPr kumimoji="1" lang="en-US" altLang="ja-JP"/>
          </a:p>
        </p:txBody>
      </p:sp>
      <p:sp>
        <p:nvSpPr>
          <p:cNvPr id="54" name="テキスト プレースホルダー 39"/>
          <p:cNvSpPr>
            <a:spLocks noGrp="1"/>
          </p:cNvSpPr>
          <p:nvPr>
            <p:ph type="body" sz="quarter" idx="18" hasCustomPrompt="1"/>
          </p:nvPr>
        </p:nvSpPr>
        <p:spPr>
          <a:xfrm>
            <a:off x="5045807" y="4802948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趣味・特技など</a:t>
            </a:r>
            <a:endParaRPr kumimoji="1" lang="en-US" altLang="ja-JP"/>
          </a:p>
        </p:txBody>
      </p:sp>
      <p:sp>
        <p:nvSpPr>
          <p:cNvPr id="55" name="テキスト プレースホルダー 39"/>
          <p:cNvSpPr>
            <a:spLocks noGrp="1"/>
          </p:cNvSpPr>
          <p:nvPr>
            <p:ph type="body" sz="quarter" idx="19" hasCustomPrompt="1"/>
          </p:nvPr>
        </p:nvSpPr>
        <p:spPr>
          <a:xfrm>
            <a:off x="5045807" y="282542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経歴</a:t>
            </a:r>
            <a:endParaRPr kumimoji="1"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</a:p>
        </p:txBody>
      </p:sp>
      <p:pic>
        <p:nvPicPr>
          <p:cNvPr id="11" name="図 10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6589876"/>
            <a:ext cx="457175" cy="1756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65125" indent="-3651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3778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eragroup.sharepoint.com/sites/Jenny1/Shared%20Documents/General/@&#20849;&#26377;&#12501;&#12449;&#12452;&#12523;/20_&#25945;&#32946;&#36039;&#26009;/&#25968;&#20998;&#12391;&#12510;&#12473;&#12479;&#12540;&#12391;&#12365;&#12427;&#36229;&#20837;&#38272;&#12511;&#12491;&#12525;&#12508;/&#24066;&#27665;&#38283;&#30330;&#12469;&#12509;&#12540;&#12488;&#35201;&#21729;&#12473;&#12461;&#12523;&#21521;&#19978;/05_Excel&#12392;&#12502;&#12521;&#12454;&#12470;&#25805;&#20316;/Slide-Voice-Maker/&#12304;StudioX&#12305;Excel&#12392;&#12502;&#12521;&#12454;&#12470;&#25805;&#20316;.webm" TargetMode="External"/><Relationship Id="rId2" Type="http://schemas.openxmlformats.org/officeDocument/2006/relationships/hyperlink" Target="https://jeragroup.sharepoint.com/sites/Jenny1/SitePages/%E3%83%8F%E3%83%B3%E3%82%BA%E3%82%AA%E3%83%B3%E7%A0%94%E4%BF%AE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jeragroup.sharepoint.com/sites/Jenny1/Shared%20Documents/Forms/AllItems.aspx?id=%2Fsites%2FJenny1%2FShared%20Documents%2FGeneral%2F%40%E5%85%B1%E6%9C%89%E3%83%95%E3%82%A1%E3%82%A4%E3%83%AB%2F20%5F%E6%95%99%E8%82%B2%E8%B3%87%E6%96%99%2F%E6%95%B0%E5%88%86%E3%81%A7%E3%83%9E%E3%82%B9%E3%82%BF%E3%83%BC%E3%81%A7%E3%81%8D%E3%82%8B%E8%B6%85%E5%85%A5%E9%96%80%E3%83%9F%E3%83%8B%E3%83%AD%E3%83%9C%2F%E5%B8%82%E6%B0%91%E9%96%8B%E7%99%BA%E3%82%B5%E3%83%9D%E3%83%BC%E3%83%88%E8%A6%81%E5%93%A1%E3%82%B9%E3%82%AD%E3%83%AB%E5%90%91%E4%B8%8A%2F00%5F%E5%88%A9%E7%94%A8%E7%94%B3%E8%AB%8B%E3%80%81%E3%82%A4%E3%83%B3%E3%82%B9%E3%83%88%E3%83%BC%E3%83%AB%E3%80%81%E3%82%AC%E3%82%A4%E3%83%89%E3%83%BB%E8%A6%8F%E7%B4%84%2F%E2%91%A1%E3%80%90UiPath%E3%80%91%E3%82%A4%E3%83%B3%E3%82%B9%E3%83%88%E3%83%BC%E3%83%AB%E6%89%8B%E9%A0%86%2Epdf&amp;parent=%2Fsites%2FJenny1%2FShared%20Documents%2FGeneral%2F%40%E5%85%B1%E6%9C%89%E3%83%95%E3%82%A1%E3%82%A4%E3%83%AB%2F20%5F%E6%95%99%E8%82%B2%E8%B3%87%E6%96%99%2F%E6%95%B0%E5%88%86%E3%81%A7%E3%83%9E%E3%82%B9%E3%82%BF%E3%83%BC%E3%81%A7%E3%81%8D%E3%82%8B%E8%B6%85%E5%85%A5%E9%96%80%E3%83%9F%E3%83%8B%E3%83%AD%E3%83%9C%2F%E5%B8%82%E6%B0%91%E9%96%8B%E7%99%BA%E3%82%B5%E3%83%9D%E3%83%BC%E3%83%88%E8%A6%81%E5%93%A1%E3%82%B9%E3%82%AD%E3%83%AB%E5%90%91%E4%B8%8A%2F00%5F%E5%88%A9%E7%94%A8%E7%94%B3%E8%AB%8B%E3%80%81%E3%82%A4%E3%83%B3%E3%82%B9%E3%83%88%E3%83%BC%E3%83%AB%E3%80%81%E3%82%AC%E3%82%A4%E3%83%89%E3%83%BB%E8%A6%8F%E7%B4%84" TargetMode="External"/><Relationship Id="rId5" Type="http://schemas.openxmlformats.org/officeDocument/2006/relationships/hyperlink" Target="https://forms.office.com/Pages/ResponsePage.aspx?id=mzhAKIEPb0m3Qqx5Sl2mHhHRHUk32HlFql003WRlhQ1UMkZFMkZGRzlHMzNTWlVFOUdBUTRLTFBWVS4u&amp;sid=01ec0013-534e-4549-a49c-f625107625f2" TargetMode="External"/><Relationship Id="rId4" Type="http://schemas.openxmlformats.org/officeDocument/2006/relationships/hyperlink" Target="https://jeragroup.sharepoint.com/sites/Jenny1/Shared%20Documents/General/@&#20849;&#26377;&#12501;&#12449;&#12452;&#12523;/20_&#25945;&#32946;&#36039;&#26009;/&#25968;&#20998;&#12391;&#12510;&#12473;&#12479;&#12540;&#12391;&#12365;&#12427;&#36229;&#20837;&#38272;&#12511;&#12491;&#12525;&#12508;/&#24066;&#27665;&#38283;&#30330;&#12469;&#12509;&#12540;&#12488;&#35201;&#21729;&#12473;&#12461;&#12523;&#21521;&#19978;/05_Excel&#12392;&#12502;&#12521;&#12454;&#12470;&#25805;&#20316;/Slide-Voice-Maker/&#12304;StudioX&#12305;Excel&#12392;&#12502;&#12521;&#12454;&#12470;&#25805;&#20316;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20000" y="1980000"/>
            <a:ext cx="10800000" cy="144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56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56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ハンズオン研修</a:t>
            </a:r>
          </a:p>
          <a:p>
            <a:pPr algn="ctr">
              <a:buNone/>
              <a:defRPr lang="ja-JP" altLang="en-US" sz="56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56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Studio入門コース</a:t>
            </a:r>
          </a:p>
          <a:p>
            <a:pPr algn="ctr">
              <a:buNone/>
              <a:defRPr lang="ja-JP" altLang="en-US" sz="44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4400" b="1" dirty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rPr>
              <a:t>総集編オンライン開催</a:t>
            </a:r>
          </a:p>
        </p:txBody>
      </p:sp>
      <p:sp>
        <p:nvSpPr>
          <p:cNvPr id="3" name="Info"/>
          <p:cNvSpPr/>
          <p:nvPr/>
        </p:nvSpPr>
        <p:spPr>
          <a:xfrm>
            <a:off x="720000" y="4680000"/>
            <a:ext cx="7200000" cy="1260000"/>
          </a:xfrm>
          <a:prstGeom prst="rect">
            <a:avLst/>
          </a:prstGeom>
        </p:spPr>
        <p:txBody>
          <a:bodyPr wrap="square" lIns="180000" tIns="72000" rIns="180000" bIns="90000" anchor="t" anchorCtr="0">
            <a:noAutofit/>
          </a:bodyPr>
          <a:lstStyle/>
          <a:p>
            <a:pPr algn="l">
              <a:buNone/>
              <a:defRPr lang="ja-JP" altLang="en-US" sz="22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2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デジタル ソリューション統括部</a:t>
            </a:r>
          </a:p>
          <a:p>
            <a:pPr algn="l">
              <a:buNone/>
              <a:defRPr lang="ja-JP" altLang="en-US" sz="22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2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プラント ソリューション部</a:t>
            </a:r>
          </a:p>
          <a:p>
            <a:pPr algn="l">
              <a:buNone/>
              <a:defRPr lang="ja-JP" altLang="en-US" sz="22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2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支社ITソリューション ユニット</a:t>
            </a:r>
          </a:p>
        </p:txBody>
      </p:sp>
      <p:sp>
        <p:nvSpPr>
          <p:cNvPr id="4" name="BottomLine"/>
          <p:cNvSpPr/>
          <p:nvPr/>
        </p:nvSpPr>
        <p:spPr>
          <a:xfrm>
            <a:off x="720000" y="6300000"/>
            <a:ext cx="3600000" cy="64800"/>
          </a:xfrm>
          <a:prstGeom prst="rect">
            <a:avLst/>
          </a:prstGeom>
          <a:solidFill>
            <a:srgbClr val="0078D4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60000" cy="648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l">
              <a:buNone/>
              <a:defRPr lang="ja-JP" altLang="en-US" sz="34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4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ハンズオン研修 Studio入門コース 総集編⑤</a:t>
            </a:r>
          </a:p>
        </p:txBody>
      </p:sp>
      <p:sp>
        <p:nvSpPr>
          <p:cNvPr id="3" name="Bar"/>
          <p:cNvSpPr/>
          <p:nvPr/>
        </p:nvSpPr>
        <p:spPr>
          <a:xfrm>
            <a:off x="540000" y="1007999"/>
            <a:ext cx="6480000" cy="540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Details"/>
          <p:cNvSpPr/>
          <p:nvPr/>
        </p:nvSpPr>
        <p:spPr>
          <a:xfrm>
            <a:off x="540000" y="1152000"/>
            <a:ext cx="11160000" cy="52200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216000" rIns="180000" bIns="90000" anchor="t" anchorCtr="0">
            <a:noAutofit/>
          </a:bodyPr>
          <a:lstStyle/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方式：</a:t>
            </a:r>
            <a:r>
              <a:rPr lang="en-US" altLang="ja-JP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			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オンライン</a:t>
            </a: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1600" dirty="0">
              <a:solidFill>
                <a:srgbClr val="000000"/>
              </a:solidFill>
              <a:latin typeface="+mn-ea"/>
              <a:cs typeface="Meiryo UI" panose="020B0604030504040204" charset="-128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スケジュール：</a:t>
            </a:r>
            <a:r>
              <a:rPr lang="en-US" altLang="ja-JP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  	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1時間 × 4回（全て同じ内容）</a:t>
            </a:r>
            <a:b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</a:br>
            <a: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				Teams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会議のリンクなど、詳細は「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  <a:hlinkClick r:id="rId2"/>
              </a:rPr>
              <a:t>ハンズオン研修</a:t>
            </a:r>
            <a: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  <a:hlinkClick r:id="rId2"/>
              </a:rPr>
              <a:t>Studio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  <a:hlinkClick r:id="rId2"/>
              </a:rPr>
              <a:t>入門コース総集編オンライン開催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」で案内</a:t>
            </a:r>
            <a:endParaRPr lang="ja-JP" altLang="en-US" sz="1600" dirty="0">
              <a:solidFill>
                <a:srgbClr val="0078D4"/>
              </a:solidFill>
              <a:latin typeface="+mn-ea"/>
              <a:cs typeface="Meiryo UI" panose="020B0604030504040204" charset="-128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1600" dirty="0">
              <a:solidFill>
                <a:srgbClr val="374151"/>
              </a:solidFill>
              <a:latin typeface="+mn-ea"/>
              <a:cs typeface="Arial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dirty="0">
                <a:solidFill>
                  <a:srgbClr val="0078D4"/>
                </a:solidFill>
                <a:latin typeface="+mn-ea"/>
                <a:cs typeface="Arial"/>
              </a:rPr>
              <a:t>開催日</a:t>
            </a:r>
            <a:r>
              <a:rPr lang="ja-JP" sz="1600" dirty="0">
                <a:solidFill>
                  <a:srgbClr val="0078D4"/>
                </a:solidFill>
                <a:latin typeface="+mn-ea"/>
                <a:cs typeface="Arial"/>
              </a:rPr>
              <a:t>：</a:t>
            </a:r>
            <a:r>
              <a:rPr lang="en-US" altLang="ja-JP" sz="1600" dirty="0">
                <a:solidFill>
                  <a:srgbClr val="0078D4"/>
                </a:solidFill>
                <a:latin typeface="+mn-ea"/>
                <a:cs typeface="Arial"/>
              </a:rPr>
              <a:t>  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Arial"/>
              </a:rPr>
              <a:t>        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2/5(木)    13:00～</a:t>
            </a:r>
            <a:endParaRPr lang="ja-JP" altLang="en-US" sz="1600" dirty="0">
              <a:solidFill>
                <a:srgbClr val="0078D4"/>
              </a:solidFill>
              <a:latin typeface="+mn-ea"/>
              <a:cs typeface="Meiryo UI" panose="020B0604030504040204" charset="-128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              2/13(金)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Arial"/>
              </a:rPr>
              <a:t>  </a:t>
            </a:r>
            <a:r>
              <a:rPr lang="ja-JP" sz="1600" dirty="0">
                <a:solidFill>
                  <a:srgbClr val="374151"/>
                </a:solidFill>
                <a:latin typeface="+mn-ea"/>
                <a:cs typeface="Arial"/>
              </a:rPr>
              <a:t>1</a:t>
            </a:r>
            <a:r>
              <a:rPr lang="en-US" altLang="ja-JP" sz="1600" dirty="0">
                <a:solidFill>
                  <a:srgbClr val="374151"/>
                </a:solidFill>
                <a:latin typeface="+mn-ea"/>
                <a:cs typeface="Arial"/>
              </a:rPr>
              <a:t>1</a:t>
            </a:r>
            <a:r>
              <a:rPr lang="ja-JP" sz="1600" dirty="0">
                <a:solidFill>
                  <a:srgbClr val="374151"/>
                </a:solidFill>
                <a:latin typeface="+mn-ea"/>
                <a:cs typeface="Arial"/>
              </a:rPr>
              <a:t>:00～</a:t>
            </a:r>
            <a:endParaRPr lang="ja-JP" altLang="en-US" sz="1600" dirty="0">
              <a:solidFill>
                <a:srgbClr val="0078D4"/>
              </a:solidFill>
              <a:latin typeface="+mn-ea"/>
              <a:cs typeface="Arial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              2/18(水)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Arial"/>
              </a:rPr>
              <a:t>  </a:t>
            </a:r>
            <a:r>
              <a:rPr lang="ja-JP" sz="1600" dirty="0">
                <a:solidFill>
                  <a:srgbClr val="374151"/>
                </a:solidFill>
                <a:latin typeface="+mn-ea"/>
                <a:cs typeface="Arial"/>
              </a:rPr>
              <a:t>1</a:t>
            </a:r>
            <a:r>
              <a:rPr lang="en-US" altLang="ja-JP" sz="1600" dirty="0">
                <a:solidFill>
                  <a:srgbClr val="374151"/>
                </a:solidFill>
                <a:latin typeface="+mn-ea"/>
                <a:cs typeface="Arial"/>
              </a:rPr>
              <a:t>1</a:t>
            </a:r>
            <a:r>
              <a:rPr lang="ja-JP" sz="1600" dirty="0">
                <a:solidFill>
                  <a:srgbClr val="374151"/>
                </a:solidFill>
                <a:latin typeface="+mn-ea"/>
                <a:cs typeface="Arial"/>
              </a:rPr>
              <a:t>:00～</a:t>
            </a:r>
            <a:endParaRPr lang="ja-JP" altLang="en-US" sz="1600" dirty="0">
              <a:solidFill>
                <a:srgbClr val="0078D4"/>
              </a:solidFill>
              <a:latin typeface="+mn-ea"/>
              <a:cs typeface="Meiryo UI" panose="020B0604030504040204" charset="-128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              2/24(火)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Arial"/>
              </a:rPr>
              <a:t>  </a:t>
            </a:r>
            <a:r>
              <a:rPr lang="ja-JP" sz="1600" dirty="0">
                <a:solidFill>
                  <a:srgbClr val="374151"/>
                </a:solidFill>
                <a:latin typeface="+mn-ea"/>
                <a:cs typeface="Arial"/>
              </a:rPr>
              <a:t>1</a:t>
            </a:r>
            <a:r>
              <a:rPr lang="en-US" altLang="ja-JP" sz="1600" dirty="0">
                <a:solidFill>
                  <a:srgbClr val="374151"/>
                </a:solidFill>
                <a:latin typeface="+mn-ea"/>
                <a:cs typeface="Arial"/>
              </a:rPr>
              <a:t>3</a:t>
            </a:r>
            <a:r>
              <a:rPr lang="ja-JP" sz="1600" dirty="0">
                <a:solidFill>
                  <a:srgbClr val="374151"/>
                </a:solidFill>
                <a:latin typeface="+mn-ea"/>
                <a:cs typeface="Arial"/>
              </a:rPr>
              <a:t>:00～</a:t>
            </a:r>
            <a:endParaRPr lang="ja-JP" altLang="en-US" sz="1600" dirty="0">
              <a:solidFill>
                <a:srgbClr val="374151"/>
              </a:solidFill>
              <a:latin typeface="+mn-ea"/>
              <a:cs typeface="Arial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endParaRPr lang="ja-JP" sz="1600" dirty="0">
              <a:solidFill>
                <a:srgbClr val="000000"/>
              </a:solidFill>
              <a:latin typeface="+mn-ea"/>
            </a:endParaRPr>
          </a:p>
          <a:p>
            <a:pPr algn="l">
              <a:buNone/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内容：</a:t>
            </a:r>
            <a:r>
              <a:rPr lang="en-US" altLang="ja-JP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			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ロボ作成 UiPath_Studio、Edge、Excel  画面の解説、QA</a:t>
            </a:r>
            <a:endParaRPr lang="ja-JP" altLang="en-US" sz="1600" b="1" dirty="0">
              <a:solidFill>
                <a:srgbClr val="374151"/>
              </a:solidFill>
              <a:latin typeface="+mn-ea"/>
              <a:cs typeface="Meiryo UI" panose="020B0604030504040204" charset="-128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1600" dirty="0">
              <a:solidFill>
                <a:srgbClr val="000000"/>
              </a:solidFill>
              <a:latin typeface="+mn-ea"/>
              <a:cs typeface="Meiryo UI" panose="020B0604030504040204" charset="-128"/>
            </a:endParaRPr>
          </a:p>
          <a:p>
            <a:pPr algn="l">
              <a:buNone/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対象：</a:t>
            </a:r>
            <a:r>
              <a:rPr lang="en-US" altLang="ja-JP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			</a:t>
            </a:r>
            <a: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UiPath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習得希望者</a:t>
            </a:r>
            <a:b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</a:br>
            <a: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				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（聴講のみ大歓迎）</a:t>
            </a: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1600" dirty="0">
              <a:solidFill>
                <a:srgbClr val="000000"/>
              </a:solidFill>
              <a:latin typeface="+mn-ea"/>
              <a:cs typeface="Meiryo UI" panose="020B0604030504040204" charset="-128"/>
            </a:endParaRPr>
          </a:p>
          <a:p>
            <a:pPr algn="l">
              <a:buNone/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予習・復習：</a:t>
            </a:r>
            <a:r>
              <a:rPr lang="en-US" altLang="ja-JP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		</a:t>
            </a:r>
            <a:r>
              <a:rPr lang="ja-JP" altLang="en-US" sz="1600" b="1" dirty="0">
                <a:latin typeface="+mn-ea"/>
                <a:hlinkClick r:id="rId3"/>
              </a:rPr>
              <a:t>ロボ作成ビデオ（音声と字幕で解説）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 、 </a:t>
            </a:r>
            <a:r>
              <a:rPr lang="ja-JP" altLang="en-US" sz="1600" b="1" dirty="0">
                <a:latin typeface="+mn-ea"/>
                <a:hlinkClick r:id="rId4"/>
              </a:rPr>
              <a:t>スライド</a:t>
            </a:r>
            <a:endParaRPr lang="ja-JP" altLang="en-US" sz="1600" dirty="0">
              <a:solidFill>
                <a:srgbClr val="374151"/>
              </a:solidFill>
              <a:latin typeface="+mn-ea"/>
              <a:cs typeface="Meiryo UI" panose="020B0604030504040204" charset="-128"/>
            </a:endParaRPr>
          </a:p>
          <a:p>
            <a:pPr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1600" dirty="0">
              <a:solidFill>
                <a:srgbClr val="000000"/>
              </a:solidFill>
              <a:latin typeface="+mn-ea"/>
              <a:cs typeface="Meiryo UI" panose="020B0604030504040204" charset="-128"/>
            </a:endParaRPr>
          </a:p>
          <a:p>
            <a:pPr algn="l">
              <a:buNone/>
              <a:defRPr lang="ja-JP" altLang="en-US" sz="26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ライセンス：</a:t>
            </a:r>
            <a:r>
              <a:rPr lang="en-US" altLang="ja-JP" sz="1600" b="1" dirty="0">
                <a:solidFill>
                  <a:srgbClr val="0078D4"/>
                </a:solidFill>
                <a:latin typeface="+mn-ea"/>
                <a:cs typeface="Meiryo UI" panose="020B0604030504040204" charset="-128"/>
              </a:rPr>
              <a:t>		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先着64名 StudioX 利用可</a:t>
            </a:r>
            <a:b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</a:br>
            <a: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				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（実習を希望される方は、事前に、</a:t>
            </a:r>
            <a:r>
              <a:rPr lang="ja-JP" altLang="en-US" sz="1600" b="1" dirty="0">
                <a:latin typeface="+mn-ea"/>
                <a:hlinkClick r:id="rId5"/>
              </a:rPr>
              <a:t>利用申請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、 </a:t>
            </a:r>
            <a:r>
              <a:rPr lang="ja-JP" altLang="en-US" sz="1600" b="1" dirty="0">
                <a:latin typeface="+mn-ea"/>
                <a:hlinkClick r:id="rId6"/>
              </a:rPr>
              <a:t>インストール</a:t>
            </a:r>
            <a:r>
              <a:rPr lang="ja-JP" altLang="en-US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  <a:t>、起動を確認）</a:t>
            </a:r>
            <a:br>
              <a:rPr lang="en-US" altLang="ja-JP" sz="1600" dirty="0">
                <a:solidFill>
                  <a:srgbClr val="374151"/>
                </a:solidFill>
                <a:latin typeface="+mn-ea"/>
                <a:cs typeface="Meiryo UI" panose="020B0604030504040204" charset="-128"/>
              </a:rPr>
            </a:br>
            <a:endParaRPr lang="ja-JP" altLang="en-US" sz="1600" dirty="0">
              <a:latin typeface="+mn-ea"/>
              <a:cs typeface="Meiryo UI" panose="020B0604030504040204" charset="-128"/>
            </a:endParaRPr>
          </a:p>
        </p:txBody>
      </p:sp>
      <p:sp>
        <p:nvSpPr>
          <p:cNvPr id="5" name="PageNumber"/>
          <p:cNvSpPr/>
          <p:nvPr/>
        </p:nvSpPr>
        <p:spPr>
          <a:xfrm>
            <a:off x="5544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1400" dirty="0" smtClean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60000" cy="648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l">
              <a:buNone/>
              <a:defRPr lang="ja-JP" altLang="en-US" sz="34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4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業務知見×デジタル活用で価値創造を加速</a:t>
            </a:r>
          </a:p>
        </p:txBody>
      </p:sp>
      <p:sp>
        <p:nvSpPr>
          <p:cNvPr id="3" name="Bar"/>
          <p:cNvSpPr/>
          <p:nvPr/>
        </p:nvSpPr>
        <p:spPr>
          <a:xfrm>
            <a:off x="540000" y="1008000"/>
            <a:ext cx="6480000" cy="54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" name="Vision1"/>
          <p:cNvSpPr/>
          <p:nvPr/>
        </p:nvSpPr>
        <p:spPr>
          <a:xfrm>
            <a:off x="540000" y="1620000"/>
            <a:ext cx="11160000" cy="1512000"/>
          </a:xfrm>
          <a:prstGeom prst="roundRect">
            <a:avLst/>
          </a:prstGeom>
          <a:gradFill>
            <a:gsLst>
              <a:gs pos="0">
                <a:srgbClr val="EBF4FF"/>
              </a:gs>
              <a:gs pos="100000">
                <a:srgbClr val="E0EDFF"/>
              </a:gs>
            </a:gsLst>
            <a:lin ang="5400000" scaled="1"/>
          </a:gradFill>
          <a:ln w="2286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80000" rIns="180000" bIns="90000" anchor="t" anchorCtr="0">
            <a:noAutofit/>
          </a:bodyPr>
          <a:lstStyle/>
          <a:p>
            <a:pPr algn="l">
              <a:buNone/>
              <a:defRPr lang="ja-JP" altLang="en-US" sz="24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消費される </a:t>
            </a:r>
            <a:r>
              <a:rPr lang="ja-JP" altLang="en-US" sz="2600" b="1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「人的資源（Human Resource）」</a:t>
            </a:r>
            <a:r>
              <a:rPr lang="ja-JP" altLang="en-US" sz="3200" b="1" dirty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rPr>
              <a:t>　⇒</a:t>
            </a:r>
          </a:p>
          <a:p>
            <a:pPr algn="l">
              <a:buNone/>
              <a:defRPr lang="ja-JP" altLang="en-US" sz="24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価値を創造する </a:t>
            </a:r>
            <a:r>
              <a:rPr lang="ja-JP" altLang="en-US" sz="2600" b="1" dirty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rPr>
              <a:t>「人的資本（Human Capital）」 への変革</a:t>
            </a:r>
          </a:p>
        </p:txBody>
      </p:sp>
      <p:sp>
        <p:nvSpPr>
          <p:cNvPr id="5" name="Vision2"/>
          <p:cNvSpPr/>
          <p:nvPr/>
        </p:nvSpPr>
        <p:spPr>
          <a:xfrm>
            <a:off x="540000" y="3311999"/>
            <a:ext cx="11160000" cy="1440000"/>
          </a:xfrm>
          <a:prstGeom prst="roundRect">
            <a:avLst/>
          </a:prstGeom>
          <a:gradFill>
            <a:gsLst>
              <a:gs pos="0">
                <a:srgbClr val="F0FDF4"/>
              </a:gs>
              <a:gs pos="100000">
                <a:srgbClr val="CCFADE"/>
              </a:gs>
            </a:gsLst>
            <a:lin ang="5400000" scaled="1"/>
          </a:gradFill>
          <a:ln w="2286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80000" rIns="180000" bIns="90000" anchor="t" anchorCtr="0">
            <a:noAutofit/>
          </a:bodyPr>
          <a:lstStyle/>
          <a:p>
            <a:pPr algn="l">
              <a:buNone/>
              <a:defRPr lang="ja-JP" altLang="en-US" sz="24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業務に精通した</a:t>
            </a:r>
            <a:r>
              <a:rPr lang="ja-JP" altLang="en-US" sz="2400" b="1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非エンジニア</a:t>
            </a: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が、</a:t>
            </a:r>
          </a:p>
          <a:p>
            <a:pPr algn="l">
              <a:buNone/>
              <a:defRPr lang="ja-JP" altLang="en-US" sz="2800" b="1" dirty="0" smtClean="0">
                <a:solidFill>
                  <a:srgbClr val="059669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800" b="1" dirty="0">
                <a:solidFill>
                  <a:srgbClr val="059669"/>
                </a:solidFill>
                <a:ea typeface="Meiryo UI" panose="020B0604030504040204" charset="-128"/>
                <a:cs typeface="Meiryo UI" panose="020B0604030504040204" charset="-128"/>
              </a:rPr>
              <a:t>「ロジック」 と 「言語化」 で</a:t>
            </a:r>
            <a:r>
              <a:rPr lang="ja-JP" altLang="en-US" sz="3400" b="1" dirty="0">
                <a:solidFill>
                  <a:srgbClr val="059669"/>
                </a:solidFill>
                <a:ea typeface="Meiryo UI" panose="020B0604030504040204" charset="-128"/>
                <a:cs typeface="Meiryo UI" panose="020B0604030504040204" charset="-128"/>
              </a:rPr>
              <a:t>無敵</a:t>
            </a:r>
          </a:p>
        </p:txBody>
      </p:sp>
      <p:sp>
        <p:nvSpPr>
          <p:cNvPr id="6" name="Vision3"/>
          <p:cNvSpPr/>
          <p:nvPr/>
        </p:nvSpPr>
        <p:spPr>
          <a:xfrm>
            <a:off x="540000" y="4932000"/>
            <a:ext cx="11160000" cy="1260000"/>
          </a:xfrm>
          <a:prstGeom prst="roundRect">
            <a:avLst/>
          </a:prstGeom>
          <a:gradFill>
            <a:gsLst>
              <a:gs pos="0">
                <a:srgbClr val="FFF9E6"/>
              </a:gs>
              <a:gs pos="100000">
                <a:srgbClr val="FFFACC"/>
              </a:gs>
            </a:gsLst>
            <a:lin ang="5400000" scaled="1"/>
          </a:gradFill>
          <a:ln w="22860">
            <a:solidFill>
              <a:srgbClr val="D9770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4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若手</a:t>
            </a:r>
            <a:r>
              <a:rPr lang="ja-JP" altLang="en-US" sz="2400" b="1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AIネイティブ</a:t>
            </a: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と対等に</a:t>
            </a:r>
          </a:p>
          <a:p>
            <a:pPr algn="l">
              <a:buNone/>
              <a:defRPr lang="ja-JP" altLang="en-US" sz="2400" dirty="0" smtClean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>
                <a:solidFill>
                  <a:srgbClr val="374151"/>
                </a:solidFill>
                <a:ea typeface="Meiryo UI" panose="020B0604030504040204" charset="-128"/>
                <a:cs typeface="Meiryo UI" panose="020B0604030504040204" charset="-128"/>
              </a:rPr>
              <a:t>議論できる </a:t>
            </a:r>
            <a:r>
              <a:rPr lang="ja-JP" altLang="en-US" sz="2800" b="1" dirty="0">
                <a:solidFill>
                  <a:srgbClr val="D97706"/>
                </a:solidFill>
                <a:ea typeface="Meiryo UI" panose="020B0604030504040204" charset="-128"/>
                <a:cs typeface="Meiryo UI" panose="020B0604030504040204" charset="-128"/>
              </a:rPr>
              <a:t>「AI武装」 を今日から</a:t>
            </a:r>
          </a:p>
        </p:txBody>
      </p:sp>
      <p:sp>
        <p:nvSpPr>
          <p:cNvPr id="7" name="PageNumber"/>
          <p:cNvSpPr/>
          <p:nvPr/>
        </p:nvSpPr>
        <p:spPr>
          <a:xfrm>
            <a:off x="5544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1400" dirty="0" smtClean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60000" cy="648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l">
              <a:buNone/>
              <a:defRPr lang="ja-JP" altLang="en-US" sz="30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0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「個人の市場価値・JERAの企業価値」 向上への近道</a:t>
            </a:r>
          </a:p>
        </p:txBody>
      </p:sp>
      <p:sp>
        <p:nvSpPr>
          <p:cNvPr id="3" name="Bar"/>
          <p:cNvSpPr/>
          <p:nvPr/>
        </p:nvSpPr>
        <p:spPr>
          <a:xfrm>
            <a:off x="540000" y="1008000"/>
            <a:ext cx="7200000" cy="540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Step1"/>
          <p:cNvSpPr/>
          <p:nvPr/>
        </p:nvSpPr>
        <p:spPr>
          <a:xfrm>
            <a:off x="540000" y="1620000"/>
            <a:ext cx="11160000" cy="1007999"/>
          </a:xfrm>
          <a:prstGeom prst="roundRect">
            <a:avLst/>
          </a:prstGeom>
          <a:gradFill>
            <a:gsLst>
              <a:gs pos="0">
                <a:srgbClr val="0078D4"/>
              </a:gs>
              <a:gs pos="100000">
                <a:srgbClr val="1E40AF"/>
              </a:gs>
            </a:gsLst>
            <a:lin ang="54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600" b="1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① ハンズオン研修_Studio入門コース</a:t>
            </a: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基礎ロジック（条件分岐、繰り返し）を習得</a:t>
            </a:r>
          </a:p>
        </p:txBody>
      </p:sp>
      <p:cxnSp>
        <p:nvCxnSpPr>
          <p:cNvPr id="5" name="Arrow1"/>
          <p:cNvCxnSpPr/>
          <p:nvPr/>
        </p:nvCxnSpPr>
        <p:spPr>
          <a:xfrm>
            <a:off x="5940000" y="2627999"/>
            <a:ext cx="1" cy="216000"/>
          </a:xfrm>
          <a:prstGeom prst="straightConnector1">
            <a:avLst/>
          </a:prstGeom>
          <a:ln w="50800">
            <a:solidFill>
              <a:srgbClr val="0078D4"/>
            </a:solidFill>
            <a:tailEnd type="triangle" w="lg" len="lg"/>
          </a:ln>
        </p:spPr>
      </p:cxnSp>
      <p:sp>
        <p:nvSpPr>
          <p:cNvPr id="6" name="Step2"/>
          <p:cNvSpPr/>
          <p:nvPr/>
        </p:nvSpPr>
        <p:spPr>
          <a:xfrm>
            <a:off x="540000" y="2843999"/>
            <a:ext cx="11160000" cy="1007999"/>
          </a:xfrm>
          <a:prstGeom prst="roundRect">
            <a:avLst/>
          </a:prstGeom>
          <a:gradFill>
            <a:gsLst>
              <a:gs pos="0">
                <a:srgbClr val="059669"/>
              </a:gs>
              <a:gs pos="100000">
                <a:srgbClr val="0D9488"/>
              </a:gs>
            </a:gsLst>
            <a:lin ang="54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600" b="1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② Jenny（JERAのRPA）</a:t>
            </a: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簡単な自動化ワークフローを量産（ロジック言語化スキルを定着）</a:t>
            </a:r>
          </a:p>
        </p:txBody>
      </p:sp>
      <p:cxnSp>
        <p:nvCxnSpPr>
          <p:cNvPr id="7" name="Arrow2"/>
          <p:cNvCxnSpPr/>
          <p:nvPr/>
        </p:nvCxnSpPr>
        <p:spPr>
          <a:xfrm>
            <a:off x="5940000" y="3851998"/>
            <a:ext cx="1" cy="216000"/>
          </a:xfrm>
          <a:prstGeom prst="straightConnector1">
            <a:avLst/>
          </a:prstGeom>
          <a:ln w="50800">
            <a:solidFill>
              <a:srgbClr val="059669"/>
            </a:solidFill>
            <a:tailEnd type="triangle" w="lg" len="lg"/>
          </a:ln>
        </p:spPr>
      </p:cxnSp>
      <p:sp>
        <p:nvSpPr>
          <p:cNvPr id="8" name="Step3"/>
          <p:cNvSpPr/>
          <p:nvPr/>
        </p:nvSpPr>
        <p:spPr>
          <a:xfrm>
            <a:off x="540000" y="4067998"/>
            <a:ext cx="11160000" cy="1007999"/>
          </a:xfrm>
          <a:prstGeom prst="roundRect">
            <a:avLst/>
          </a:prstGeom>
          <a:gradFill>
            <a:gsLst>
              <a:gs pos="0">
                <a:srgbClr val="D97706"/>
              </a:gs>
              <a:gs pos="100000">
                <a:srgbClr val="B45309"/>
              </a:gs>
            </a:gsLst>
            <a:lin ang="54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600" b="1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③ AIモデル体感コース</a:t>
            </a: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ロボの設計書を生成</a:t>
            </a:r>
          </a:p>
        </p:txBody>
      </p:sp>
      <p:cxnSp>
        <p:nvCxnSpPr>
          <p:cNvPr id="9" name="Arrow3"/>
          <p:cNvCxnSpPr/>
          <p:nvPr/>
        </p:nvCxnSpPr>
        <p:spPr>
          <a:xfrm>
            <a:off x="5940000" y="5075997"/>
            <a:ext cx="1" cy="216000"/>
          </a:xfrm>
          <a:prstGeom prst="straightConnector1">
            <a:avLst/>
          </a:prstGeom>
          <a:ln w="50800">
            <a:solidFill>
              <a:srgbClr val="D97706"/>
            </a:solidFill>
            <a:tailEnd type="triangle" w="lg" len="lg"/>
          </a:ln>
        </p:spPr>
      </p:cxnSp>
      <p:sp>
        <p:nvSpPr>
          <p:cNvPr id="10" name="Step4"/>
          <p:cNvSpPr/>
          <p:nvPr/>
        </p:nvSpPr>
        <p:spPr>
          <a:xfrm>
            <a:off x="540000" y="5291997"/>
            <a:ext cx="11160000" cy="1007999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B21A8"/>
              </a:gs>
            </a:gsLst>
            <a:lin ang="54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600" b="1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④ AI仕様ドリブン開発コース</a:t>
            </a: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設計書からアプリを生成</a:t>
            </a:r>
          </a:p>
        </p:txBody>
      </p:sp>
      <p:sp>
        <p:nvSpPr>
          <p:cNvPr id="11" name="PageNumber"/>
          <p:cNvSpPr/>
          <p:nvPr/>
        </p:nvSpPr>
        <p:spPr>
          <a:xfrm>
            <a:off x="5544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1400" dirty="0" smtClean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/>
          <p:nvPr/>
        </p:nvSpPr>
        <p:spPr>
          <a:xfrm>
            <a:off x="720000" y="4140000"/>
            <a:ext cx="10800000" cy="162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46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4600" b="1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業務知見</a:t>
            </a:r>
            <a:r>
              <a:rPr lang="ja-JP" altLang="en-US" sz="46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×デジタル活用で</a:t>
            </a:r>
          </a:p>
          <a:p>
            <a:pPr algn="ctr">
              <a:buNone/>
              <a:defRPr lang="ja-JP" altLang="en-US" sz="5000" b="1" dirty="0" smtClean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5000" b="1" dirty="0">
                <a:solidFill>
                  <a:srgbClr val="0078D4"/>
                </a:solidFill>
                <a:ea typeface="Meiryo UI" panose="020B0604030504040204" charset="-128"/>
                <a:cs typeface="Meiryo UI" panose="020B0604030504040204" charset="-128"/>
              </a:rPr>
              <a:t>価値創造を加速</a:t>
            </a:r>
          </a:p>
        </p:txBody>
      </p:sp>
      <p:sp>
        <p:nvSpPr>
          <p:cNvPr id="3" name="SubMessage"/>
          <p:cNvSpPr/>
          <p:nvPr/>
        </p:nvSpPr>
        <p:spPr>
          <a:xfrm>
            <a:off x="720000" y="5580000"/>
            <a:ext cx="10800000" cy="72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2400" dirty="0" smtClean="0">
                <a:solidFill>
                  <a:srgbClr val="4A5568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>
                <a:solidFill>
                  <a:srgbClr val="4A5568"/>
                </a:solidFill>
                <a:ea typeface="Meiryo UI" panose="020B0604030504040204" charset="-128"/>
                <a:cs typeface="Meiryo UI" panose="020B0604030504040204" charset="-128"/>
              </a:rPr>
              <a:t>デジタル ソリューション統括部</a:t>
            </a:r>
          </a:p>
        </p:txBody>
      </p:sp>
      <p:sp>
        <p:nvSpPr>
          <p:cNvPr id="4" name="BottomLine"/>
          <p:cNvSpPr/>
          <p:nvPr/>
        </p:nvSpPr>
        <p:spPr>
          <a:xfrm>
            <a:off x="4320000" y="6120000"/>
            <a:ext cx="3600000" cy="648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5" name="PageNumber"/>
          <p:cNvSpPr/>
          <p:nvPr/>
        </p:nvSpPr>
        <p:spPr>
          <a:xfrm>
            <a:off x="5544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1400" dirty="0" smtClean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>
                <a:solidFill>
                  <a:srgbClr val="6B7280"/>
                </a:solidFill>
                <a:ea typeface="Meiryo UI" panose="020B0604030504040204" charset="-128"/>
                <a:cs typeface="Meiryo UI" panose="020B0604030504040204" charset="-128"/>
              </a:rPr>
              <a:t>4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8E887A2-C2EE-904B-8DA1-CABE4B08D11A}"/>
              </a:ext>
            </a:extLst>
          </p:cNvPr>
          <p:cNvSpPr/>
          <p:nvPr/>
        </p:nvSpPr>
        <p:spPr>
          <a:xfrm>
            <a:off x="540000" y="288000"/>
            <a:ext cx="11160000" cy="648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l">
              <a:buNone/>
              <a:defRPr lang="ja-JP" altLang="en-US" sz="30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000" b="1" dirty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rPr>
              <a:t>今後の展望</a:t>
            </a:r>
          </a:p>
        </p:txBody>
      </p:sp>
      <p:sp>
        <p:nvSpPr>
          <p:cNvPr id="7" name="Step1">
            <a:extLst>
              <a:ext uri="{FF2B5EF4-FFF2-40B4-BE49-F238E27FC236}">
                <a16:creationId xmlns:a16="http://schemas.microsoft.com/office/drawing/2014/main" id="{1492DE63-03E5-6F17-6D76-227B141CDF9F}"/>
              </a:ext>
            </a:extLst>
          </p:cNvPr>
          <p:cNvSpPr/>
          <p:nvPr/>
        </p:nvSpPr>
        <p:spPr>
          <a:xfrm>
            <a:off x="540000" y="1440000"/>
            <a:ext cx="11160000" cy="1440000"/>
          </a:xfrm>
          <a:prstGeom prst="roundRect">
            <a:avLst/>
          </a:prstGeom>
          <a:gradFill>
            <a:gsLst>
              <a:gs pos="0">
                <a:srgbClr val="0078D4"/>
              </a:gs>
              <a:gs pos="100000">
                <a:srgbClr val="1E40AF"/>
              </a:gs>
            </a:gsLst>
            <a:lin ang="54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600" b="1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① ハンズオン研修_Studio初級コース</a:t>
            </a: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</a:t>
            </a:r>
            <a:r>
              <a:rPr lang="en-US" altLang="ja-JP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AI</a:t>
            </a: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搭載</a:t>
            </a:r>
            <a:r>
              <a:rPr lang="en-US" altLang="ja-JP" sz="2300" dirty="0" err="1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UiPath_Studio</a:t>
            </a: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へアップグレード（検証中）</a:t>
            </a:r>
            <a:endParaRPr lang="en-US" altLang="ja-JP" sz="2300" dirty="0">
              <a:solidFill>
                <a:srgbClr val="FFFFFF"/>
              </a:solidFill>
              <a:ea typeface="Meiryo UI" panose="020B0604030504040204" charset="-128"/>
              <a:cs typeface="Meiryo UI" panose="020B0604030504040204" charset="-128"/>
            </a:endParaRP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</a:t>
            </a:r>
            <a:r>
              <a:rPr lang="en-US" altLang="ja-JP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AI</a:t>
            </a: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活用ロボ作成コンテンツ拡充</a:t>
            </a:r>
          </a:p>
        </p:txBody>
      </p:sp>
      <p:sp>
        <p:nvSpPr>
          <p:cNvPr id="8" name="Step2">
            <a:extLst>
              <a:ext uri="{FF2B5EF4-FFF2-40B4-BE49-F238E27FC236}">
                <a16:creationId xmlns:a16="http://schemas.microsoft.com/office/drawing/2014/main" id="{9AC9CF7C-55D1-B738-1155-118B7CDCEAE7}"/>
              </a:ext>
            </a:extLst>
          </p:cNvPr>
          <p:cNvSpPr/>
          <p:nvPr/>
        </p:nvSpPr>
        <p:spPr>
          <a:xfrm>
            <a:off x="540000" y="3060000"/>
            <a:ext cx="11160000" cy="1007999"/>
          </a:xfrm>
          <a:prstGeom prst="roundRect">
            <a:avLst/>
          </a:prstGeom>
          <a:gradFill>
            <a:gsLst>
              <a:gs pos="0">
                <a:srgbClr val="059669"/>
              </a:gs>
              <a:gs pos="100000">
                <a:srgbClr val="0D9488"/>
              </a:gs>
            </a:gsLst>
            <a:lin ang="54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252000" tIns="144000" rIns="180000" bIns="90000" anchor="t" anchorCtr="0">
            <a:noAutofit/>
          </a:bodyPr>
          <a:lstStyle/>
          <a:p>
            <a:pPr algn="l">
              <a:buNone/>
              <a:defRPr lang="ja-JP" altLang="en-US" sz="2600" b="1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② Jenny（JERAのRPA）</a:t>
            </a:r>
          </a:p>
          <a:p>
            <a:pPr algn="l">
              <a:buNone/>
              <a:defRPr lang="ja-JP" altLang="en-US" sz="2300" dirty="0" smtClean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　→ </a:t>
            </a:r>
            <a:r>
              <a:rPr lang="en-US" altLang="ja-JP" sz="230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S/4_HANA</a:t>
            </a:r>
            <a:r>
              <a:rPr lang="ja-JP" altLang="en-US" sz="230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等</a:t>
            </a:r>
            <a:r>
              <a:rPr lang="ja-JP" altLang="en-US" sz="2300" dirty="0">
                <a:solidFill>
                  <a:srgbClr val="FFFFFF"/>
                </a:solidFill>
                <a:ea typeface="Meiryo UI" panose="020B0604030504040204" charset="-128"/>
                <a:cs typeface="Meiryo UI" panose="020B0604030504040204" charset="-128"/>
              </a:rPr>
              <a:t>ブラウザ操作サンプル提供</a:t>
            </a:r>
          </a:p>
        </p:txBody>
      </p:sp>
      <p:cxnSp>
        <p:nvCxnSpPr>
          <p:cNvPr id="9" name="Arrow1">
            <a:extLst>
              <a:ext uri="{FF2B5EF4-FFF2-40B4-BE49-F238E27FC236}">
                <a16:creationId xmlns:a16="http://schemas.microsoft.com/office/drawing/2014/main" id="{5171ED1A-B1EB-14B3-A702-48E3A0C5CCA1}"/>
              </a:ext>
            </a:extLst>
          </p:cNvPr>
          <p:cNvCxnSpPr/>
          <p:nvPr/>
        </p:nvCxnSpPr>
        <p:spPr>
          <a:xfrm>
            <a:off x="5940000" y="2880000"/>
            <a:ext cx="1" cy="216000"/>
          </a:xfrm>
          <a:prstGeom prst="straightConnector1">
            <a:avLst/>
          </a:prstGeom>
          <a:ln w="50800">
            <a:solidFill>
              <a:srgbClr val="0078D4"/>
            </a:solidFill>
            <a:tailEnd type="triangl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デジタル部門テンプレート_Options１">
  <a:themeElements>
    <a:clrScheme name="ユーザー定義 7">
      <a:dk1>
        <a:sysClr val="windowText" lastClr="000000"/>
      </a:dk1>
      <a:lt1>
        <a:sysClr val="window" lastClr="FFFFFF"/>
      </a:lt1>
      <a:dk2>
        <a:srgbClr val="0088CD"/>
      </a:dk2>
      <a:lt2>
        <a:srgbClr val="8096A3"/>
      </a:lt2>
      <a:accent1>
        <a:srgbClr val="8096A3"/>
      </a:accent1>
      <a:accent2>
        <a:srgbClr val="0088CD"/>
      </a:accent2>
      <a:accent3>
        <a:srgbClr val="70B42C"/>
      </a:accent3>
      <a:accent4>
        <a:srgbClr val="E88000"/>
      </a:accent4>
      <a:accent5>
        <a:srgbClr val="D82531"/>
      </a:accent5>
      <a:accent6>
        <a:srgbClr val="893672"/>
      </a:accent6>
      <a:hlink>
        <a:srgbClr val="0000FF"/>
      </a:hlink>
      <a:folHlink>
        <a:srgbClr val="7030A0"/>
      </a:folHlink>
    </a:clrScheme>
    <a:fontScheme name="ユーザー定義 26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 sz="16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8b7c3f-0c04-43f2-994a-4d15c126527e" xsi:nil="true"/>
    <lcf76f155ced4ddcb4097134ff3c332f xmlns="ca7d6a75-85ce-4348-a071-06fac58233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42EBB9AEB5BBE4B9DE491019D16F818" ma:contentTypeVersion="18" ma:contentTypeDescription="新しいドキュメントを作成します。" ma:contentTypeScope="" ma:versionID="20b5a5790f7b017bb6c6a221f3553bdf">
  <xsd:schema xmlns:xsd="http://www.w3.org/2001/XMLSchema" xmlns:xs="http://www.w3.org/2001/XMLSchema" xmlns:p="http://schemas.microsoft.com/office/2006/metadata/properties" xmlns:ns2="ca7d6a75-85ce-4348-a071-06fac5823398" xmlns:ns3="888b7c3f-0c04-43f2-994a-4d15c126527e" targetNamespace="http://schemas.microsoft.com/office/2006/metadata/properties" ma:root="true" ma:fieldsID="1e47ce9ba86242f4c8fa2c8a5acad303" ns2:_="" ns3:_="">
    <xsd:import namespace="ca7d6a75-85ce-4348-a071-06fac5823398"/>
    <xsd:import namespace="888b7c3f-0c04-43f2-994a-4d15c12652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d6a75-85ce-4348-a071-06fac5823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61ec606-d3f6-431d-aca1-879ead0541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b7c3f-0c04-43f2-994a-4d15c126527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87c870-61a5-4a7c-8f00-14f66c82b7cb}" ma:internalName="TaxCatchAll" ma:showField="CatchAllData" ma:web="888b7c3f-0c04-43f2-994a-4d15c12652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7861E1-F7FD-4D7B-A139-A29C3B45EA50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888b7c3f-0c04-43f2-994a-4d15c126527e"/>
    <ds:schemaRef ds:uri="http://purl.org/dc/dcmitype/"/>
    <ds:schemaRef ds:uri="http://schemas.openxmlformats.org/package/2006/metadata/core-properties"/>
    <ds:schemaRef ds:uri="ca7d6a75-85ce-4348-a071-06fac5823398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0C1847F-2BF9-493E-B2AB-C962B14121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046B27-61DC-499A-B36C-56F9C1939C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d6a75-85ce-4348-a071-06fac5823398"/>
    <ds:schemaRef ds:uri="888b7c3f-0c04-43f2-994a-4d15c12652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411</Words>
  <Application>Microsoft Office PowerPoint</Application>
  <PresentationFormat>ワイド画面</PresentationFormat>
  <Paragraphs>54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ＭＳ Ｐゴシック</vt:lpstr>
      <vt:lpstr>メイリオ</vt:lpstr>
      <vt:lpstr>Arial</vt:lpstr>
      <vt:lpstr>Calibri</vt:lpstr>
      <vt:lpstr>Wingdings</vt:lpstr>
      <vt:lpstr>デジタル部門テンプレート_Options１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Sanjukta Datta</dc:creator>
  <cp:lastModifiedBy>浜崎 秀寿(Hidetoshi Hamazaki)</cp:lastModifiedBy>
  <cp:revision>181</cp:revision>
  <cp:lastPrinted>2015-03-27T02:26:00Z</cp:lastPrinted>
  <dcterms:created xsi:type="dcterms:W3CDTF">2014-11-11T09:42:00Z</dcterms:created>
  <dcterms:modified xsi:type="dcterms:W3CDTF">2026-01-27T22:11:44Z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0x010100542EBB9AEB5BBE4B9DE491019D16F818</vt:lpwstr>
  </property>
  <property fmtid="{D5CDD505-2E9C-101B-9397-08002B2CF9AE}" pid="3" name="MediaServiceImageTags">
    <vt:lpwstr/>
  </property>
  <property fmtid="{D5CDD505-2E9C-101B-9397-08002B2CF9AE}" pid="4" name="KSOProductBuildVer">
    <vt:lpwstr>1041-11.8.2.8498</vt:lpwstr>
  </property>
</Properties>
</file>