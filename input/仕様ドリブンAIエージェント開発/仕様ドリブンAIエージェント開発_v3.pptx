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>
  <p:sldMasterIdLst>
    <p:sldMasterId id="2147483648" r:id="rId1"/>
  </p:sldMasterIdLst>
  <p:notesMasterIdLst>
    <p:notesMasterId r:id="rId9"/>
  </p:notesMasterIdLst>
  <p:handoutMasterIdLst>
    <p:handoutMasterId r:id="rId17"/>
  </p:handoutMasterIdLst>
  <p:sldIdLst>
    <p:sldId id="296" r:id="rId3"/>
    <p:sldId id="298" r:id="rId4"/>
    <p:sldId id="300" r:id="rId5"/>
    <p:sldId id="301" r:id="rId6"/>
    <p:sldId id="307" r:id="rId7"/>
    <p:sldId id="308" r:id="rId8"/>
    <p:sldId id="309" r:id="rId10"/>
    <p:sldId id="310" r:id="rId11"/>
    <p:sldId id="311" r:id="rId12"/>
    <p:sldId id="312" r:id="rId13"/>
    <p:sldId id="313" r:id="rId14"/>
    <p:sldId id="315" r:id="rId15"/>
    <p:sldId id="314" r:id="rId16"/>
  </p:sldIdLst>
  <p:sldSz cx="12192000" cy="6858000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DACC7EA8-93AE-4464-AD79-41599CBC1FBF}">
          <p14:sldIdLst>
            <p14:sldId id="296"/>
            <p14:sldId id="298"/>
            <p14:sldId id="300"/>
            <p14:sldId id="301"/>
            <p14:sldId id="307"/>
            <p14:sldId id="308"/>
            <p14:sldId id="309"/>
            <p14:sldId id="310"/>
            <p14:sldId id="311"/>
            <p14:sldId id="312"/>
            <p14:sldId id="313"/>
            <p14:sldId id="315"/>
            <p14:sldId id="31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3D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C4386-B183-654C-9E7B-D52C24951AF5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A9920-5521-E443-8442-9DB0AECE1666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62E43-6BEB-E141-BAB0-607A387E436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D24CB-8007-374D-9E08-03A8819812E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イメージプレースホルダ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字列プレースホルダ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sv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/>
          <p:cNvGrpSpPr>
            <a:grpSpLocks noGrp="1" noRot="1" noMove="1" noResize="1" noUngrp="1"/>
          </p:cNvGrpSpPr>
          <p:nvPr userDrawn="1"/>
        </p:nvGrpSpPr>
        <p:grpSpPr>
          <a:xfrm>
            <a:off x="-1" y="0"/>
            <a:ext cx="12191999" cy="6858000"/>
            <a:chOff x="-1" y="0"/>
            <a:chExt cx="12191999" cy="6858000"/>
          </a:xfrm>
        </p:grpSpPr>
        <p:pic>
          <p:nvPicPr>
            <p:cNvPr id="4" name="図 3" descr="クロスワードパズル, テキスト, 建物, 大きい が含まれている画像&#10;&#10;自動的に生成された説明"/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2">
              <a:alphaModFix amt="50000"/>
            </a:blip>
            <a:srcRect l="52126" t="11706" b="3961"/>
            <a:stretch>
              <a:fillRect/>
            </a:stretch>
          </p:blipFill>
          <p:spPr>
            <a:xfrm>
              <a:off x="6355079" y="0"/>
              <a:ext cx="5836919" cy="6858000"/>
            </a:xfrm>
            <a:prstGeom prst="rect">
              <a:avLst/>
            </a:prstGeom>
          </p:spPr>
        </p:pic>
        <p:grpSp>
          <p:nvGrpSpPr>
            <p:cNvPr id="10" name="グループ化 9"/>
            <p:cNvGrpSpPr>
              <a:grpSpLocks noGrp="1" noRot="1" noMove="1" noResize="1" noUngrp="1"/>
            </p:cNvGrpSpPr>
            <p:nvPr userDrawn="1"/>
          </p:nvGrpSpPr>
          <p:grpSpPr>
            <a:xfrm>
              <a:off x="-1" y="0"/>
              <a:ext cx="6355081" cy="6858000"/>
              <a:chOff x="-1" y="0"/>
              <a:chExt cx="6355081" cy="6858000"/>
            </a:xfrm>
          </p:grpSpPr>
          <p:sp>
            <p:nvSpPr>
              <p:cNvPr id="8" name="正方形/長方形 7"/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" y="6553199"/>
                <a:ext cx="6355079" cy="3048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kumimoji="1" lang="ja-JP" altLang="en-US" sz="1600"/>
              </a:p>
            </p:txBody>
          </p:sp>
          <p:pic>
            <p:nvPicPr>
              <p:cNvPr id="9" name="図 8" descr="クロスワードパズル, テキスト, 建物, 大きい が含まれている画像&#10;&#10;自動的に生成された説明"/>
              <p:cNvPicPr>
                <a:picLocks noGrp="1" noRot="1" noChangeAspect="1" noMove="1" noResize="1" noEditPoints="1" noAdjustHandles="1" noChangeArrowheads="1" noChangeShapeType="1" noCrop="1"/>
              </p:cNvPicPr>
              <p:nvPr userDrawn="1"/>
            </p:nvPicPr>
            <p:blipFill rotWithShape="1">
              <a:blip r:embed="rId2">
                <a:alphaModFix amt="50000"/>
              </a:blip>
              <a:srcRect t="11706" r="47875" b="3961"/>
              <a:stretch>
                <a:fillRect/>
              </a:stretch>
            </p:blipFill>
            <p:spPr>
              <a:xfrm>
                <a:off x="-1" y="0"/>
                <a:ext cx="6355079" cy="6858000"/>
              </a:xfrm>
              <a:prstGeom prst="rect">
                <a:avLst/>
              </a:prstGeom>
            </p:spPr>
          </p:pic>
        </p:grpSp>
        <p:pic>
          <p:nvPicPr>
            <p:cNvPr id="13" name="図 12"/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1988" y="432833"/>
              <a:ext cx="1295400" cy="698500"/>
            </a:xfrm>
            <a:prstGeom prst="rect">
              <a:avLst/>
            </a:prstGeom>
          </p:spPr>
        </p:pic>
      </p:grpSp>
      <p:sp>
        <p:nvSpPr>
          <p:cNvPr id="6" name="タイトル 1"/>
          <p:cNvSpPr>
            <a:spLocks noGrp="1"/>
          </p:cNvSpPr>
          <p:nvPr userDrawn="1">
            <p:ph type="ctrTitle" hasCustomPrompt="1"/>
          </p:nvPr>
        </p:nvSpPr>
        <p:spPr>
          <a:xfrm>
            <a:off x="658813" y="2855743"/>
            <a:ext cx="10874376" cy="720000"/>
          </a:xfrm>
          <a:prstGeom prst="rect">
            <a:avLst/>
          </a:prstGeom>
        </p:spPr>
        <p:txBody>
          <a:bodyPr vert="horz" lIns="0" tIns="36000" rIns="0" bIns="0" anchor="ctr">
            <a:noAutofit/>
          </a:bodyPr>
          <a:lstStyle>
            <a:lvl1pPr algn="l">
              <a:defRPr sz="3600"/>
            </a:lvl1pPr>
          </a:lstStyle>
          <a:p>
            <a:r>
              <a:rPr kumimoji="1" lang="ja-JP" altLang="en-US"/>
              <a:t>プレゼンテーションタイトル</a:t>
            </a:r>
            <a:endParaRPr kumimoji="1" lang="ja-JP" altLang="en-US"/>
          </a:p>
        </p:txBody>
      </p:sp>
      <p:sp>
        <p:nvSpPr>
          <p:cNvPr id="7" name="サブタイトル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58813" y="3602038"/>
            <a:ext cx="10874376" cy="407254"/>
          </a:xfrm>
          <a:prstGeom prst="rect">
            <a:avLst/>
          </a:prstGeom>
        </p:spPr>
        <p:txBody>
          <a:bodyPr lIns="0" tIns="36000" rIns="0" bIns="0" anchor="ctr">
            <a:no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_リード文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658814" y="203480"/>
            <a:ext cx="11269661" cy="33183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658813" y="625823"/>
            <a:ext cx="11269662" cy="39017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144145" indent="-144145" algn="l">
              <a:lnSpc>
                <a:spcPct val="110000"/>
              </a:lnSpc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リード文</a:t>
            </a:r>
            <a:endParaRPr kumimoji="1" lang="en-US" altLang="ja-JP"/>
          </a:p>
          <a:p>
            <a:r>
              <a:rPr kumimoji="1" lang="ja-JP" altLang="en-US"/>
              <a:t>リード文</a:t>
            </a:r>
            <a:endParaRPr kumimoji="1" lang="ja-JP" altLang="en-US"/>
          </a:p>
        </p:txBody>
      </p:sp>
      <p:grpSp>
        <p:nvGrpSpPr>
          <p:cNvPr id="16" name="グループ化 15"/>
          <p:cNvGrpSpPr>
            <a:grpSpLocks noGrp="1" noRot="1" noMove="1" noResize="1" noUngrp="1"/>
          </p:cNvGrpSpPr>
          <p:nvPr userDrawn="1"/>
        </p:nvGrpSpPr>
        <p:grpSpPr>
          <a:xfrm>
            <a:off x="263525" y="160602"/>
            <a:ext cx="11664950" cy="6328001"/>
            <a:chOff x="263525" y="160602"/>
            <a:chExt cx="11664950" cy="6328001"/>
          </a:xfrm>
        </p:grpSpPr>
        <p:cxnSp>
          <p:nvCxnSpPr>
            <p:cNvPr id="6" name="直線コネクタ 5"/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263525" y="6488603"/>
              <a:ext cx="11664950" cy="0"/>
            </a:xfrm>
            <a:prstGeom prst="line">
              <a:avLst/>
            </a:prstGeom>
            <a:ln w="12700">
              <a:solidFill>
                <a:schemeClr val="bg2">
                  <a:lumMod val="40000"/>
                  <a:lumOff val="6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グループ化 10"/>
            <p:cNvGrpSpPr>
              <a:grpSpLocks noGrp="1" noRot="1" noMove="1" noResize="1" noUngrp="1"/>
            </p:cNvGrpSpPr>
            <p:nvPr userDrawn="1"/>
          </p:nvGrpSpPr>
          <p:grpSpPr>
            <a:xfrm>
              <a:off x="263525" y="160602"/>
              <a:ext cx="11664950" cy="928423"/>
              <a:chOff x="263525" y="160602"/>
              <a:chExt cx="11664950" cy="928423"/>
            </a:xfrm>
          </p:grpSpPr>
          <p:pic>
            <p:nvPicPr>
              <p:cNvPr id="12" name="図 11"/>
              <p:cNvPicPr>
                <a:picLocks noGrp="1" noRot="1" noChangeAspect="1" noMove="1" noResize="1" noEditPoints="1" noAdjustHandles="1" noChangeArrowheads="1" noChangeShapeType="1" noCrop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3525" y="160602"/>
                <a:ext cx="257150" cy="898216"/>
              </a:xfrm>
              <a:prstGeom prst="rect">
                <a:avLst/>
              </a:prstGeom>
            </p:spPr>
          </p:pic>
          <p:cxnSp>
            <p:nvCxnSpPr>
              <p:cNvPr id="13" name="直線コネクタ 12"/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263525" y="1089025"/>
                <a:ext cx="11664950" cy="0"/>
              </a:xfrm>
              <a:prstGeom prst="line">
                <a:avLst/>
              </a:prstGeom>
              <a:ln w="12700">
                <a:solidFill>
                  <a:schemeClr val="bg2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コンテンツ プレースホルダー 4"/>
          <p:cNvSpPr>
            <a:spLocks noGrp="1"/>
          </p:cNvSpPr>
          <p:nvPr>
            <p:ph sz="quarter" idx="10"/>
          </p:nvPr>
        </p:nvSpPr>
        <p:spPr>
          <a:xfrm>
            <a:off x="263525" y="1268414"/>
            <a:ext cx="11664950" cy="5040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bg1"/>
              </a:buClr>
              <a:buFont typeface="ＭＳ Ｐゴシック" panose="020B0600070205080204" pitchFamily="50" charset="-128"/>
              <a:buNone/>
              <a:defRPr sz="1800"/>
            </a:lvl1pPr>
            <a:lvl2pPr marL="263525" indent="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/>
            </a:lvl2pPr>
            <a:lvl3pPr marL="538480" indent="0">
              <a:lnSpc>
                <a:spcPct val="120000"/>
              </a:lnSpc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None/>
              <a:defRPr sz="1600"/>
            </a:lvl3pPr>
            <a:lvl4pPr marL="803275" indent="0">
              <a:lnSpc>
                <a:spcPct val="120000"/>
              </a:lnSpc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None/>
              <a:defRPr sz="1400"/>
            </a:lvl4pPr>
            <a:lvl5pPr marL="986155" indent="0" defTabSz="53848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_リード文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680508" y="218366"/>
            <a:ext cx="11247967" cy="72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grpSp>
        <p:nvGrpSpPr>
          <p:cNvPr id="15" name="グループ化 14"/>
          <p:cNvGrpSpPr>
            <a:grpSpLocks noGrp="1" noRot="1" noMove="1" noResize="1" noUngrp="1"/>
          </p:cNvGrpSpPr>
          <p:nvPr userDrawn="1"/>
        </p:nvGrpSpPr>
        <p:grpSpPr>
          <a:xfrm>
            <a:off x="263525" y="160602"/>
            <a:ext cx="11664950" cy="6328001"/>
            <a:chOff x="263525" y="160602"/>
            <a:chExt cx="11664950" cy="6328001"/>
          </a:xfrm>
        </p:grpSpPr>
        <p:cxnSp>
          <p:nvCxnSpPr>
            <p:cNvPr id="16" name="直線コネクタ 15"/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263525" y="6488603"/>
              <a:ext cx="11664950" cy="0"/>
            </a:xfrm>
            <a:prstGeom prst="line">
              <a:avLst/>
            </a:prstGeom>
            <a:ln w="12700">
              <a:solidFill>
                <a:schemeClr val="bg2">
                  <a:lumMod val="40000"/>
                  <a:lumOff val="6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グループ化 16"/>
            <p:cNvGrpSpPr>
              <a:grpSpLocks noGrp="1" noRot="1" noMove="1" noResize="1" noUngrp="1"/>
            </p:cNvGrpSpPr>
            <p:nvPr userDrawn="1"/>
          </p:nvGrpSpPr>
          <p:grpSpPr>
            <a:xfrm>
              <a:off x="263525" y="160602"/>
              <a:ext cx="11664950" cy="928423"/>
              <a:chOff x="263525" y="160602"/>
              <a:chExt cx="11664950" cy="928423"/>
            </a:xfrm>
          </p:grpSpPr>
          <p:pic>
            <p:nvPicPr>
              <p:cNvPr id="18" name="図 17"/>
              <p:cNvPicPr>
                <a:picLocks noGrp="1" noRot="1" noChangeAspect="1" noMove="1" noResize="1" noEditPoints="1" noAdjustHandles="1" noChangeArrowheads="1" noChangeShapeType="1" noCrop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3525" y="160602"/>
                <a:ext cx="257150" cy="898216"/>
              </a:xfrm>
              <a:prstGeom prst="rect">
                <a:avLst/>
              </a:prstGeom>
            </p:spPr>
          </p:pic>
          <p:cxnSp>
            <p:nvCxnSpPr>
              <p:cNvPr id="19" name="直線コネクタ 18"/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263525" y="1089025"/>
                <a:ext cx="11664950" cy="0"/>
              </a:xfrm>
              <a:prstGeom prst="line">
                <a:avLst/>
              </a:prstGeom>
              <a:ln w="12700">
                <a:solidFill>
                  <a:schemeClr val="bg2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コンテンツ プレースホルダー 4"/>
          <p:cNvSpPr>
            <a:spLocks noGrp="1"/>
          </p:cNvSpPr>
          <p:nvPr>
            <p:ph sz="quarter" idx="10"/>
          </p:nvPr>
        </p:nvSpPr>
        <p:spPr>
          <a:xfrm>
            <a:off x="263525" y="1268414"/>
            <a:ext cx="11664950" cy="5040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bg1"/>
              </a:buClr>
              <a:buFont typeface="ＭＳ Ｐゴシック" panose="020B0600070205080204" pitchFamily="50" charset="-128"/>
              <a:buNone/>
              <a:defRPr sz="1800"/>
            </a:lvl1pPr>
            <a:lvl2pPr marL="263525" indent="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/>
            </a:lvl2pPr>
            <a:lvl3pPr marL="538480" indent="0">
              <a:lnSpc>
                <a:spcPct val="120000"/>
              </a:lnSpc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None/>
              <a:defRPr sz="1600"/>
            </a:lvl3pPr>
            <a:lvl4pPr marL="803275" indent="0">
              <a:lnSpc>
                <a:spcPct val="120000"/>
              </a:lnSpc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None/>
              <a:defRPr sz="1400"/>
            </a:lvl4pPr>
            <a:lvl5pPr marL="986155" indent="0" defTabSz="53848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電子機器, 回路 が含まれている画像&#10;&#10;自動的に生成された説明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50000"/>
          </a:blip>
          <a:srcRect t="11788" b="388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タイトル 1"/>
          <p:cNvSpPr>
            <a:spLocks noGrp="1"/>
          </p:cNvSpPr>
          <p:nvPr>
            <p:ph type="title" hasCustomPrompt="1"/>
          </p:nvPr>
        </p:nvSpPr>
        <p:spPr>
          <a:xfrm>
            <a:off x="658812" y="3126265"/>
            <a:ext cx="10874376" cy="627743"/>
          </a:xfrm>
          <a:prstGeom prst="rect">
            <a:avLst/>
          </a:prstGeom>
        </p:spPr>
        <p:txBody>
          <a:bodyPr lIns="0" tIns="72000" rIns="0" bIns="0" anchor="t"/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チャプタータイトル</a:t>
            </a:r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rofi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>
            <a:grpSpLocks noGrp="1" noRot="1" noMove="1" noResize="1" noUngrp="1"/>
          </p:cNvGrpSpPr>
          <p:nvPr userDrawn="1"/>
        </p:nvGrpSpPr>
        <p:grpSpPr>
          <a:xfrm>
            <a:off x="0" y="-61131"/>
            <a:ext cx="12192001" cy="6980262"/>
            <a:chOff x="0" y="-61131"/>
            <a:chExt cx="12192001" cy="6980262"/>
          </a:xfrm>
        </p:grpSpPr>
        <p:grpSp>
          <p:nvGrpSpPr>
            <p:cNvPr id="3" name="グループ化 2"/>
            <p:cNvGrpSpPr>
              <a:grpSpLocks noGrp="1" noRot="1" noMove="1" noResize="1" noUngrp="1"/>
            </p:cNvGrpSpPr>
            <p:nvPr/>
          </p:nvGrpSpPr>
          <p:grpSpPr>
            <a:xfrm>
              <a:off x="0" y="-3548"/>
              <a:ext cx="4287668" cy="6867338"/>
              <a:chOff x="0" y="-3548"/>
              <a:chExt cx="4287668" cy="6867338"/>
            </a:xfrm>
          </p:grpSpPr>
          <p:sp>
            <p:nvSpPr>
              <p:cNvPr id="5" name="正方形/長方形 4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4281714" cy="6858000"/>
              </a:xfrm>
              <a:prstGeom prst="rect">
                <a:avLst/>
              </a:prstGeom>
              <a:solidFill>
                <a:schemeClr val="accent1"/>
              </a:solidFill>
              <a:ln w="127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kumimoji="1" lang="ja-JP" altLang="en-US" sz="1600"/>
              </a:p>
            </p:txBody>
          </p:sp>
          <p:grpSp>
            <p:nvGrpSpPr>
              <p:cNvPr id="6" name="グループ化 5"/>
              <p:cNvGrpSpPr>
                <a:grpSpLocks noGrp="1" noRot="1" noMove="1" noResize="1" noUngrp="1"/>
              </p:cNvGrpSpPr>
              <p:nvPr/>
            </p:nvGrpSpPr>
            <p:grpSpPr>
              <a:xfrm>
                <a:off x="0" y="-3548"/>
                <a:ext cx="4287668" cy="1270837"/>
                <a:chOff x="0" y="-3547"/>
                <a:chExt cx="3248580" cy="962858"/>
              </a:xfrm>
            </p:grpSpPr>
            <p:sp>
              <p:nvSpPr>
                <p:cNvPr id="11" name="フリーフォーム: 図形 10"/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5400000">
                  <a:off x="1142861" y="-1146408"/>
                  <a:ext cx="962858" cy="3248580"/>
                </a:xfrm>
                <a:custGeom>
                  <a:avLst/>
                  <a:gdLst>
                    <a:gd name="connsiteX0" fmla="*/ 0 w 962858"/>
                    <a:gd name="connsiteY0" fmla="*/ 3248580 h 3248580"/>
                    <a:gd name="connsiteX1" fmla="*/ 0 w 962858"/>
                    <a:gd name="connsiteY1" fmla="*/ 0 h 3248580"/>
                    <a:gd name="connsiteX2" fmla="*/ 962858 w 962858"/>
                    <a:gd name="connsiteY2" fmla="*/ 3248580 h 3248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2858" h="3248580">
                      <a:moveTo>
                        <a:pt x="0" y="3248580"/>
                      </a:moveTo>
                      <a:lnTo>
                        <a:pt x="0" y="0"/>
                      </a:lnTo>
                      <a:lnTo>
                        <a:pt x="962858" y="324858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ja-JP"/>
                  </a:defPPr>
                  <a:lvl1pPr marL="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12" name="図 11" descr="挿絵 が含まれている画像&#10;&#10;自動的に生成された説明"/>
                <p:cNvPicPr>
                  <a:picLocks noGrp="1" noRot="1" noMove="1" noResize="1" noEditPoints="1" noAdjustHandles="1" noChangeArrowheads="1" noChangeShapeType="1" noCrop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79524" y="192969"/>
                  <a:ext cx="569913" cy="212923"/>
                </a:xfrm>
                <a:prstGeom prst="rect">
                  <a:avLst/>
                </a:prstGeom>
              </p:spPr>
            </p:pic>
          </p:grpSp>
          <p:grpSp>
            <p:nvGrpSpPr>
              <p:cNvPr id="7" name="グループ化 6"/>
              <p:cNvGrpSpPr>
                <a:grpSpLocks noGrp="1" noRot="1" noMove="1" noResize="1" noUngrp="1"/>
              </p:cNvGrpSpPr>
              <p:nvPr/>
            </p:nvGrpSpPr>
            <p:grpSpPr>
              <a:xfrm>
                <a:off x="1076136" y="5913194"/>
                <a:ext cx="3205581" cy="950596"/>
                <a:chOff x="1076136" y="5913194"/>
                <a:chExt cx="3205581" cy="950596"/>
              </a:xfrm>
            </p:grpSpPr>
            <p:sp>
              <p:nvSpPr>
                <p:cNvPr id="8" name="フリーフォーム: 図形 7"/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6200000">
                  <a:off x="2203868" y="4785462"/>
                  <a:ext cx="950113" cy="3205578"/>
                </a:xfrm>
                <a:custGeom>
                  <a:avLst/>
                  <a:gdLst>
                    <a:gd name="connsiteX0" fmla="*/ 0 w 962858"/>
                    <a:gd name="connsiteY0" fmla="*/ 3248580 h 3248580"/>
                    <a:gd name="connsiteX1" fmla="*/ 0 w 962858"/>
                    <a:gd name="connsiteY1" fmla="*/ 0 h 3248580"/>
                    <a:gd name="connsiteX2" fmla="*/ 962858 w 962858"/>
                    <a:gd name="connsiteY2" fmla="*/ 3248580 h 3248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2858" h="3248580">
                      <a:moveTo>
                        <a:pt x="0" y="3248580"/>
                      </a:moveTo>
                      <a:lnTo>
                        <a:pt x="0" y="0"/>
                      </a:lnTo>
                      <a:lnTo>
                        <a:pt x="962858" y="324858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ja-JP"/>
                  </a:defPPr>
                  <a:lvl1pPr marL="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" name="フリーフォーム: 図形 8"/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6200000">
                  <a:off x="2651959" y="5234031"/>
                  <a:ext cx="745220" cy="2514297"/>
                </a:xfrm>
                <a:custGeom>
                  <a:avLst/>
                  <a:gdLst>
                    <a:gd name="connsiteX0" fmla="*/ 0 w 962858"/>
                    <a:gd name="connsiteY0" fmla="*/ 3248580 h 3248580"/>
                    <a:gd name="connsiteX1" fmla="*/ 0 w 962858"/>
                    <a:gd name="connsiteY1" fmla="*/ 0 h 3248580"/>
                    <a:gd name="connsiteX2" fmla="*/ 962858 w 962858"/>
                    <a:gd name="connsiteY2" fmla="*/ 3248580 h 3248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2858" h="3248580">
                      <a:moveTo>
                        <a:pt x="0" y="3248580"/>
                      </a:moveTo>
                      <a:lnTo>
                        <a:pt x="0" y="0"/>
                      </a:lnTo>
                      <a:lnTo>
                        <a:pt x="962858" y="3248580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ja-JP"/>
                  </a:defPPr>
                  <a:lvl1pPr marL="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0" name="フリーフォーム: 図形 9"/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6200000">
                  <a:off x="3008682" y="5590756"/>
                  <a:ext cx="582105" cy="1963964"/>
                </a:xfrm>
                <a:custGeom>
                  <a:avLst/>
                  <a:gdLst>
                    <a:gd name="connsiteX0" fmla="*/ 0 w 962858"/>
                    <a:gd name="connsiteY0" fmla="*/ 3248580 h 3248580"/>
                    <a:gd name="connsiteX1" fmla="*/ 0 w 962858"/>
                    <a:gd name="connsiteY1" fmla="*/ 0 h 3248580"/>
                    <a:gd name="connsiteX2" fmla="*/ 962858 w 962858"/>
                    <a:gd name="connsiteY2" fmla="*/ 3248580 h 3248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2858" h="3248580">
                      <a:moveTo>
                        <a:pt x="0" y="3248580"/>
                      </a:moveTo>
                      <a:lnTo>
                        <a:pt x="0" y="0"/>
                      </a:lnTo>
                      <a:lnTo>
                        <a:pt x="962858" y="324858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ja-JP"/>
                  </a:defPPr>
                  <a:lvl1pPr marL="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ja-JP" altLang="en-US"/>
                </a:p>
              </p:txBody>
            </p:sp>
          </p:grpSp>
        </p:grpSp>
        <p:sp>
          <p:nvSpPr>
            <p:cNvPr id="4" name="正方形/長方形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81623" y="-61131"/>
              <a:ext cx="7910378" cy="6980262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800" dist="38100" dir="10800000" algn="r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ja-JP" altLang="en-US" sz="1600"/>
            </a:p>
          </p:txBody>
        </p:sp>
      </p:grpSp>
      <p:cxnSp>
        <p:nvCxnSpPr>
          <p:cNvPr id="13" name="直線コネクタ 12"/>
          <p:cNvCxnSpPr/>
          <p:nvPr userDrawn="1"/>
        </p:nvCxnSpPr>
        <p:spPr>
          <a:xfrm>
            <a:off x="4745458" y="4527642"/>
            <a:ext cx="7183017" cy="0"/>
          </a:xfrm>
          <a:prstGeom prst="line">
            <a:avLst/>
          </a:prstGeom>
          <a:ln w="12700" cap="rnd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 userDrawn="1"/>
        </p:nvCxnSpPr>
        <p:spPr>
          <a:xfrm>
            <a:off x="4745458" y="2371857"/>
            <a:ext cx="7183017" cy="0"/>
          </a:xfrm>
          <a:prstGeom prst="line">
            <a:avLst/>
          </a:prstGeom>
          <a:ln w="12700" cap="rnd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グラフィックス 20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5458" y="282856"/>
            <a:ext cx="134494" cy="338554"/>
          </a:xfrm>
          <a:prstGeom prst="rect">
            <a:avLst/>
          </a:prstGeom>
        </p:spPr>
      </p:pic>
      <p:pic>
        <p:nvPicPr>
          <p:cNvPr id="24" name="グラフィックス 23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5458" y="2647163"/>
            <a:ext cx="134494" cy="338554"/>
          </a:xfrm>
          <a:prstGeom prst="rect">
            <a:avLst/>
          </a:prstGeom>
        </p:spPr>
      </p:pic>
      <p:pic>
        <p:nvPicPr>
          <p:cNvPr id="27" name="グラフィックス 26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5458" y="4802948"/>
            <a:ext cx="134494" cy="338554"/>
          </a:xfrm>
          <a:prstGeom prst="rect">
            <a:avLst/>
          </a:prstGeom>
        </p:spPr>
      </p:pic>
      <p:cxnSp>
        <p:nvCxnSpPr>
          <p:cNvPr id="38" name="直線コネクタ 37"/>
          <p:cNvCxnSpPr/>
          <p:nvPr userDrawn="1"/>
        </p:nvCxnSpPr>
        <p:spPr>
          <a:xfrm>
            <a:off x="809481" y="4383178"/>
            <a:ext cx="2910692" cy="0"/>
          </a:xfrm>
          <a:prstGeom prst="line">
            <a:avLst/>
          </a:prstGeom>
          <a:ln w="12700" cap="rnd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プレースホルダー 39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09481" y="4644534"/>
            <a:ext cx="2910692" cy="685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ICT</a:t>
            </a:r>
            <a:r>
              <a:rPr kumimoji="1" lang="ja-JP" altLang="en-US"/>
              <a:t>戦略部</a:t>
            </a:r>
            <a:endParaRPr kumimoji="1" lang="ja-JP" altLang="en-US"/>
          </a:p>
          <a:p>
            <a:pPr lvl="0"/>
            <a:r>
              <a:rPr kumimoji="1" lang="en-US" altLang="ja-JP"/>
              <a:t>ICT</a:t>
            </a:r>
            <a:r>
              <a:rPr kumimoji="1" lang="ja-JP" altLang="en-US"/>
              <a:t>計画ガバナンス</a:t>
            </a:r>
            <a:r>
              <a:rPr kumimoji="1" lang="en-US" altLang="ja-JP"/>
              <a:t>U</a:t>
            </a:r>
            <a:endParaRPr kumimoji="1" lang="en-US" altLang="ja-JP"/>
          </a:p>
        </p:txBody>
      </p:sp>
      <p:sp>
        <p:nvSpPr>
          <p:cNvPr id="41" name="テキスト プレースホルダー 39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09481" y="3725765"/>
            <a:ext cx="2910692" cy="46911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20000"/>
              </a:lnSpc>
              <a:spcAft>
                <a:spcPts val="0"/>
              </a:spcAft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姓姓　名名</a:t>
            </a:r>
            <a:endParaRPr kumimoji="1" lang="ja-JP" altLang="en-US"/>
          </a:p>
        </p:txBody>
      </p:sp>
      <p:sp>
        <p:nvSpPr>
          <p:cNvPr id="44" name="テキスト プレースホルダー 39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045807" y="3171906"/>
            <a:ext cx="6882668" cy="932224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</p:txBody>
      </p:sp>
      <p:sp>
        <p:nvSpPr>
          <p:cNvPr id="45" name="テキスト プレースホルダー 39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045807" y="5326255"/>
            <a:ext cx="3205579" cy="932224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</p:txBody>
      </p:sp>
      <p:sp>
        <p:nvSpPr>
          <p:cNvPr id="47" name="テキスト プレースホルダー 3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045807" y="806162"/>
            <a:ext cx="852819" cy="129038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2025.01</a:t>
            </a:r>
            <a:endParaRPr kumimoji="1" lang="en-US" altLang="ja-JP"/>
          </a:p>
          <a:p>
            <a:pPr lvl="0"/>
            <a:endParaRPr kumimoji="1" lang="en-US" altLang="ja-JP"/>
          </a:p>
          <a:p>
            <a:pPr lvl="0"/>
            <a:r>
              <a:rPr kumimoji="1" lang="en-US" altLang="ja-JP"/>
              <a:t>2025.02</a:t>
            </a:r>
            <a:endParaRPr kumimoji="1" lang="en-US" altLang="ja-JP"/>
          </a:p>
          <a:p>
            <a:pPr lvl="0"/>
            <a:r>
              <a:rPr kumimoji="1" lang="en-US" altLang="ja-JP"/>
              <a:t>2025.03</a:t>
            </a:r>
            <a:endParaRPr kumimoji="1" lang="en-US" altLang="ja-JP"/>
          </a:p>
        </p:txBody>
      </p:sp>
      <p:sp>
        <p:nvSpPr>
          <p:cNvPr id="48" name="テキスト プレースホルダー 39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989320" y="806162"/>
            <a:ext cx="5939155" cy="129038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JERA</a:t>
            </a:r>
            <a:r>
              <a:rPr kumimoji="1" lang="ja-JP" altLang="en-US"/>
              <a:t>入社●●配属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</p:txBody>
      </p:sp>
      <p:sp>
        <p:nvSpPr>
          <p:cNvPr id="52" name="テキスト ボックス 51"/>
          <p:cNvSpPr txBox="1"/>
          <p:nvPr userDrawn="1"/>
        </p:nvSpPr>
        <p:spPr>
          <a:xfrm>
            <a:off x="1730772" y="2146609"/>
            <a:ext cx="1068110" cy="50055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>
                <a:solidFill>
                  <a:schemeClr val="bg1"/>
                </a:solidFill>
              </a:rPr>
              <a:t>Face Photo</a:t>
            </a:r>
            <a:endParaRPr kumimoji="1" lang="en-US" altLang="ja-JP" sz="1400" b="1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</a:pPr>
            <a:r>
              <a:rPr kumimoji="1" lang="en-US" altLang="ja-JP" sz="1400" b="1">
                <a:solidFill>
                  <a:schemeClr val="bg1"/>
                </a:solidFill>
              </a:rPr>
              <a:t>6×6</a:t>
            </a:r>
            <a:endParaRPr kumimoji="1" lang="ja-JP" altLang="en-US" sz="1400" b="1">
              <a:solidFill>
                <a:schemeClr val="bg1"/>
              </a:solidFill>
            </a:endParaRPr>
          </a:p>
        </p:txBody>
      </p:sp>
      <p:sp>
        <p:nvSpPr>
          <p:cNvPr id="53" name="テキスト プレースホルダー 39"/>
          <p:cNvSpPr>
            <a:spLocks noGrp="1"/>
          </p:cNvSpPr>
          <p:nvPr>
            <p:ph type="body" sz="quarter" idx="17" hasCustomPrompt="1"/>
          </p:nvPr>
        </p:nvSpPr>
        <p:spPr>
          <a:xfrm>
            <a:off x="5045807" y="2647339"/>
            <a:ext cx="3205578" cy="3385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主な担当業務</a:t>
            </a:r>
            <a:endParaRPr kumimoji="1" lang="en-US" altLang="ja-JP"/>
          </a:p>
        </p:txBody>
      </p:sp>
      <p:sp>
        <p:nvSpPr>
          <p:cNvPr id="54" name="テキスト プレースホルダー 39"/>
          <p:cNvSpPr>
            <a:spLocks noGrp="1"/>
          </p:cNvSpPr>
          <p:nvPr>
            <p:ph type="body" sz="quarter" idx="18" hasCustomPrompt="1"/>
          </p:nvPr>
        </p:nvSpPr>
        <p:spPr>
          <a:xfrm>
            <a:off x="5045807" y="4802948"/>
            <a:ext cx="3205578" cy="3385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趣味・特技など</a:t>
            </a:r>
            <a:endParaRPr kumimoji="1" lang="en-US" altLang="ja-JP"/>
          </a:p>
        </p:txBody>
      </p:sp>
      <p:sp>
        <p:nvSpPr>
          <p:cNvPr id="55" name="テキスト プレースホルダー 39"/>
          <p:cNvSpPr>
            <a:spLocks noGrp="1"/>
          </p:cNvSpPr>
          <p:nvPr>
            <p:ph type="body" sz="quarter" idx="19" hasCustomPrompt="1"/>
          </p:nvPr>
        </p:nvSpPr>
        <p:spPr>
          <a:xfrm>
            <a:off x="5045807" y="282542"/>
            <a:ext cx="3205578" cy="3385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経歴</a:t>
            </a:r>
            <a:endParaRPr kumimoji="1"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7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/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848872" y="6591087"/>
            <a:ext cx="2079603" cy="1732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kumimoji="1" lang="en-US" altLang="ja-JP" sz="800" spc="0" baseline="0">
                <a:solidFill>
                  <a:schemeClr val="bg2"/>
                </a:solidFill>
                <a:latin typeface="+mn-lt"/>
                <a:ea typeface="+mn-ea"/>
              </a:rPr>
              <a:t>© JERA Co., Inc. All Rights Reserved.</a:t>
            </a:r>
            <a:endParaRPr kumimoji="1" lang="en-US" altLang="ja-JP" sz="800" spc="0" baseline="0">
              <a:solidFill>
                <a:schemeClr val="bg2"/>
              </a:solidFill>
              <a:latin typeface="+mn-lt"/>
              <a:ea typeface="+mn-ea"/>
            </a:endParaRPr>
          </a:p>
        </p:txBody>
      </p:sp>
      <p:pic>
        <p:nvPicPr>
          <p:cNvPr id="11" name="図 10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25" y="6589876"/>
            <a:ext cx="457175" cy="17563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28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365125" indent="-365125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377825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 panose="020B0604020202020204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 panose="020B0604020202020204"/>
        <a:buChar char="–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 panose="020B0604020202020204"/>
        <a:buChar char="»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160000"/>
            <a:ext cx="11112119" cy="1260000"/>
          </a:xfrm>
          <a:prstGeom prst="rect">
            <a:avLst/>
          </a:prstGeom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56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56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仕様ドリブン AIエージェント開発</a:t>
            </a:r>
            <a:endParaRPr lang="ja-JP" altLang="en-US" dirty="0" smtClean="0" sz="56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Info"/>
          <p:cNvSpPr/>
          <p:nvPr/>
        </p:nvSpPr>
        <p:spPr>
          <a:xfrm>
            <a:off x="540000" y="5040000"/>
            <a:ext cx="7200000" cy="1440000"/>
          </a:xfrm>
          <a:prstGeom prst="rect">
            <a:avLst/>
          </a:prstGeom>
        </p:spPr>
        <p:txBody>
          <a:bodyPr wrap="square" anchor="t" anchorCtr="0" lIns="180000" tIns="72000" rIns="180000" bIns="90000">
            <a:noAutofit/>
          </a:bodyPr>
          <a:lstStyle/>
          <a:p>
            <a:pPr algn="l" hangingPunct="1">
              <a:buNone/>
              <a:def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2026年2月19日</a:t>
            </a:r>
            <a:endParaRPr lang="ja-JP" altLang="en-US" dirty="0" smtClean="0" sz="22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デジタル ソリューション統括部</a:t>
            </a:r>
            <a:endParaRPr lang="ja-JP" altLang="en-US" dirty="0" smtClean="0" sz="22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部門横断コード チーム</a:t>
            </a:r>
            <a:endParaRPr lang="ja-JP" altLang="en-US" dirty="0" smtClean="0" sz="22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4" name="BottomLine"/>
          <p:cNvSpPr/>
          <p:nvPr/>
        </p:nvSpPr>
        <p:spPr>
          <a:xfrm>
            <a:off x="540000" y="6300000"/>
            <a:ext cx="2880000" cy="54000"/>
          </a:xfrm>
          <a:prstGeom prst="rect">
            <a:avLst/>
          </a:prstGeom>
          <a:solidFill>
            <a:srgbClr val="0078D4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88000"/>
            <a:ext cx="11112119" cy="648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l" hangingPunct="1">
              <a:buNone/>
              <a:def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エグゼクティブサマリー</a:t>
            </a:r>
            <a:endParaRPr lang="ja-JP" altLang="en-US" dirty="0" smtClean="0" sz="40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Bar"/>
          <p:cNvSpPr/>
          <p:nvPr/>
        </p:nvSpPr>
        <p:spPr>
          <a:xfrm>
            <a:off x="540000" y="1044000"/>
            <a:ext cx="3600000" cy="432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4" name="Card1"/>
          <p:cNvSpPr/>
          <p:nvPr/>
        </p:nvSpPr>
        <p:spPr>
          <a:xfrm>
            <a:off x="540000" y="1152000"/>
            <a:ext cx="5220000" cy="252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8D4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216000" tIns="180000" rIns="180000" bIns="90000">
            <a:noAutofit/>
          </a:bodyPr>
          <a:lstStyle/>
          <a:p>
            <a:pPr algn="l" hangingPunct="1">
              <a:buNone/>
              <a:defRPr lang="ja-JP" altLang="en-US" dirty="0" smtClean="0" sz="28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8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目的</a:t>
            </a:r>
            <a:endParaRPr lang="ja-JP" altLang="en-US" dirty="0" smtClean="0" sz="2800" b="1">
              <a:solidFill>
                <a:srgbClr val="0078D4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6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AI活用により、</a:t>
            </a:r>
            <a:endParaRPr lang="ja-JP" altLang="en-US" dirty="0" smtClean="0" sz="22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開発「スピード」と「品質」を</a:t>
            </a:r>
            <a:endParaRPr lang="ja-JP" altLang="en-US" dirty="0" smtClean="0" sz="22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4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4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両立</a:t>
            </a:r>
            <a:endParaRPr lang="ja-JP" altLang="en-US" dirty="0" smtClean="0" sz="2400" b="1">
              <a:solidFill>
                <a:srgbClr val="0078D4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4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組織全体の開発効率を向上</a:t>
            </a:r>
            <a:endParaRPr lang="ja-JP" altLang="en-US" dirty="0" smtClean="0" sz="22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5" name="Card2"/>
          <p:cNvSpPr/>
          <p:nvPr/>
        </p:nvSpPr>
        <p:spPr>
          <a:xfrm>
            <a:off x="5940000" y="1152000"/>
            <a:ext cx="5220000" cy="2520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216000" tIns="180000" rIns="180000" bIns="90000">
            <a:noAutofit/>
          </a:bodyPr>
          <a:lstStyle/>
          <a:p>
            <a:pPr algn="l" hangingPunct="1">
              <a:buNone/>
              <a:defRPr lang="ja-JP" altLang="en-US" dirty="0" smtClean="0" sz="2800" b="1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800" b="1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期待成果</a:t>
            </a:r>
            <a:endParaRPr lang="ja-JP" altLang="en-US" dirty="0" smtClean="0" sz="2800" b="1">
              <a:solidFill>
                <a:srgbClr val="059669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6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開発速度の向上</a:t>
            </a:r>
            <a:endParaRPr lang="ja-JP" altLang="en-US" dirty="0" smtClean="0" sz="22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コード品質の標準化</a:t>
            </a:r>
            <a:endParaRPr lang="ja-JP" altLang="en-US" dirty="0" smtClean="0" sz="22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組織ナレッジの継続的蓄積</a:t>
            </a:r>
            <a:endParaRPr lang="ja-JP" altLang="en-US" dirty="0" smtClean="0" sz="22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レビュー負担の削減</a:t>
            </a:r>
            <a:endParaRPr lang="ja-JP" altLang="en-US" dirty="0" smtClean="0" sz="22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6" name="Note"/>
          <p:cNvSpPr/>
          <p:nvPr/>
        </p:nvSpPr>
        <p:spPr>
          <a:xfrm>
            <a:off x="540000" y="3960000"/>
            <a:ext cx="10620000" cy="1800000"/>
          </a:xfrm>
          <a:prstGeom prst="roundRect">
            <a:avLst/>
          </a:prstGeom>
          <a:solidFill>
            <a:srgbClr val="F1F5F9"/>
          </a:solidFill>
        </p:spPr>
        <p:txBody>
          <a:bodyPr wrap="square" anchor="t" anchorCtr="0" lIns="216000" tIns="144000" rIns="180000" bIns="90000">
            <a:noAutofit/>
          </a:bodyPr>
          <a:lstStyle/>
          <a:p>
            <a:pPr algn="l" hangingPunct="1">
              <a:buNone/>
              <a:defRPr lang="ja-JP" altLang="en-US" dirty="0" smtClean="0" sz="24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4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本取り組みのポイント</a:t>
            </a:r>
            <a:endParaRPr lang="ja-JP" altLang="en-US" dirty="0" smtClean="0" sz="24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4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AIを「個人の道具」から「チームの知的基盤」へ昇格させ、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部門プロジェクトの全コンテクストを理解する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チームメンバーとして機能させる</a:t>
            </a:r>
            <a:endParaRPr lang="ja-JP" altLang="en-US" dirty="0" smtClean="0" sz="2200" b="1">
              <a:solidFill>
                <a:srgbClr val="0078D4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7" name="PageNumber"/>
          <p:cNvSpPr/>
          <p:nvPr/>
        </p:nvSpPr>
        <p:spPr>
          <a:xfrm>
            <a:off x="5760000" y="6480000"/>
            <a:ext cx="1080000" cy="360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1</a:t>
            </a:r>
            <a:endParaRPr lang="ja-JP" altLang="en-US" dirty="0" smtClean="0" sz="1400">
              <a:solidFill>
                <a:srgbClr val="6B7280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88000"/>
            <a:ext cx="11112119" cy="648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l" hangingPunct="1">
              <a:buNone/>
              <a:def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現状の課題</a:t>
            </a:r>
            <a:endParaRPr lang="ja-JP" altLang="en-US" dirty="0" smtClean="0" sz="40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Bar"/>
          <p:cNvSpPr/>
          <p:nvPr/>
        </p:nvSpPr>
        <p:spPr>
          <a:xfrm>
            <a:off x="540000" y="1044000"/>
            <a:ext cx="2160000" cy="4320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4" name="Issue1"/>
          <p:cNvSpPr/>
          <p:nvPr/>
        </p:nvSpPr>
        <p:spPr>
          <a:xfrm>
            <a:off x="540000" y="1152000"/>
            <a:ext cx="3420000" cy="3240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44000" rIns="180000" bIns="90000">
            <a:noAutofit/>
          </a:bodyPr>
          <a:lstStyle/>
          <a:p>
            <a:pPr algn="ctr" hangingPunct="1">
              <a:buNone/>
              <a:defRPr lang="ja-JP" altLang="en-US" dirty="0" smtClean="0" sz="4200" b="1">
                <a:solidFill>
                  <a:srgbClr val="DC262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200" b="1">
                <a:solidFill>
                  <a:srgbClr val="DC262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1</a:t>
            </a:r>
            <a:endParaRPr lang="ja-JP" altLang="en-US" dirty="0" smtClean="0" sz="4200" b="1">
              <a:solidFill>
                <a:srgbClr val="DC2626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ctr" hangingPunct="1">
              <a:buNone/>
              <a:defRPr lang="ja-JP" altLang="en-US" dirty="0" smtClean="0" sz="2200" b="1">
                <a:solidFill>
                  <a:srgbClr val="DC262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DC262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コンテキストの分散</a:t>
            </a:r>
            <a:endParaRPr lang="ja-JP" altLang="en-US" dirty="0" smtClean="0" sz="2200" b="1">
              <a:solidFill>
                <a:srgbClr val="DC2626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4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ドキュメント・設計思想が</a:t>
            </a:r>
            <a:endParaRPr lang="ja-JP" altLang="en-US" dirty="0" smtClean="0" sz="18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体系化されていない</a:t>
            </a:r>
            <a:endParaRPr lang="ja-JP" altLang="en-US" dirty="0" smtClean="0" sz="18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AIが参照すべき情報が</a:t>
            </a:r>
            <a:endParaRPr lang="ja-JP" altLang="en-US" dirty="0" smtClean="0" sz="18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不十分</a:t>
            </a:r>
            <a:endParaRPr lang="ja-JP" altLang="en-US" dirty="0" smtClean="0" sz="18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AIアウトプット品質が</a:t>
            </a:r>
            <a:endParaRPr lang="ja-JP" altLang="en-US" dirty="0" smtClean="0" sz="18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不安定</a:t>
            </a:r>
            <a:endParaRPr lang="ja-JP" altLang="en-US" dirty="0" smtClean="0" sz="18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5" name="Issue2"/>
          <p:cNvSpPr/>
          <p:nvPr/>
        </p:nvSpPr>
        <p:spPr>
          <a:xfrm>
            <a:off x="4140000" y="1152000"/>
            <a:ext cx="3420000" cy="3240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44000" rIns="180000" bIns="90000">
            <a:noAutofit/>
          </a:bodyPr>
          <a:lstStyle/>
          <a:p>
            <a:pPr algn="ctr" hangingPunct="1">
              <a:buNone/>
              <a:defRPr lang="ja-JP" altLang="en-US" dirty="0" smtClean="0" sz="42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2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2</a:t>
            </a:r>
            <a:endParaRPr lang="ja-JP" altLang="en-US" dirty="0" smtClean="0" sz="4200" b="1">
              <a:solidFill>
                <a:srgbClr val="D97706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ctr" hangingPunct="1">
              <a:buNone/>
              <a:defRPr lang="ja-JP" altLang="en-US" dirty="0" smtClean="0" sz="22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ガイドライン未整備</a:t>
            </a:r>
            <a:endParaRPr lang="ja-JP" altLang="en-US" dirty="0" smtClean="0" sz="2200" b="1">
              <a:solidFill>
                <a:srgbClr val="D97706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4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ルールが明文化されて</a:t>
            </a:r>
            <a:endParaRPr lang="ja-JP" altLang="en-US" dirty="0" smtClean="0" sz="18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いない</a:t>
            </a:r>
            <a:endParaRPr lang="ja-JP" altLang="en-US" dirty="0" smtClean="0" sz="18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3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個別レビュー負担が</a:t>
            </a:r>
            <a:endParaRPr lang="ja-JP" altLang="en-US" dirty="0" smtClean="0" sz="18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大きい</a:t>
            </a:r>
            <a:endParaRPr lang="ja-JP" altLang="en-US" dirty="0" smtClean="0" sz="18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6" name="Issue3"/>
          <p:cNvSpPr/>
          <p:nvPr/>
        </p:nvSpPr>
        <p:spPr>
          <a:xfrm>
            <a:off x="7740000" y="1152000"/>
            <a:ext cx="3420000" cy="324000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CA8A04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44000" rIns="180000" bIns="90000">
            <a:noAutofit/>
          </a:bodyPr>
          <a:lstStyle/>
          <a:p>
            <a:pPr algn="ctr" hangingPunct="1">
              <a:buNone/>
              <a:defRPr lang="ja-JP" altLang="en-US" dirty="0" smtClean="0" sz="4200" b="1">
                <a:solidFill>
                  <a:srgbClr val="CA8A0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200" b="1">
                <a:solidFill>
                  <a:srgbClr val="CA8A0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3</a:t>
            </a:r>
            <a:endParaRPr lang="ja-JP" altLang="en-US" dirty="0" smtClean="0" sz="4200" b="1">
              <a:solidFill>
                <a:srgbClr val="CA8A04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ctr" hangingPunct="1">
              <a:buNone/>
              <a:defRPr lang="ja-JP" altLang="en-US" dirty="0" smtClean="0" sz="2200" b="1">
                <a:solidFill>
                  <a:srgbClr val="CA8A0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CA8A0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レビュー能力と属人化</a:t>
            </a:r>
            <a:endParaRPr lang="ja-JP" altLang="en-US" dirty="0" smtClean="0" sz="2200" b="1">
              <a:solidFill>
                <a:srgbClr val="CA8A04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4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レビュー可能な人材が</a:t>
            </a:r>
            <a:endParaRPr lang="ja-JP" altLang="en-US" dirty="0" smtClean="0" sz="18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限定的</a:t>
            </a:r>
            <a:endParaRPr lang="ja-JP" altLang="en-US" dirty="0" smtClean="0" sz="18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3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品質管理が属人化</a:t>
            </a:r>
            <a:endParaRPr lang="ja-JP" altLang="en-US" dirty="0" smtClean="0" sz="18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7" name="Result"/>
          <p:cNvSpPr/>
          <p:nvPr/>
        </p:nvSpPr>
        <p:spPr>
          <a:xfrm>
            <a:off x="540000" y="4680000"/>
            <a:ext cx="10620000" cy="10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B7280"/>
            </a:solidFill>
          </a:ln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2200" b="1">
                <a:solidFill>
                  <a:srgbClr val="DC262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DC262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結果：開発速度・品質・再現性に課題</a:t>
            </a:r>
            <a:endParaRPr lang="ja-JP" altLang="en-US" dirty="0" smtClean="0" sz="2200" b="1">
              <a:solidFill>
                <a:srgbClr val="DC2626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ctr" hangingPunct="1">
              <a:buNone/>
              <a:defRPr lang="ja-JP" altLang="en-US" dirty="0" smtClean="0" sz="22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→ 組織的な改善が必要</a:t>
            </a:r>
            <a:endParaRPr lang="ja-JP" altLang="en-US" dirty="0" smtClean="0" sz="22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8" name="PageNumber"/>
          <p:cNvSpPr/>
          <p:nvPr/>
        </p:nvSpPr>
        <p:spPr>
          <a:xfrm>
            <a:off x="5760000" y="6480000"/>
            <a:ext cx="1080000" cy="360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2</a:t>
            </a:r>
            <a:endParaRPr lang="ja-JP" altLang="en-US" dirty="0" smtClean="0" sz="1400">
              <a:solidFill>
                <a:srgbClr val="6B7280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88000"/>
            <a:ext cx="11112119" cy="648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l" hangingPunct="1">
              <a:buNone/>
              <a:def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解決アプローチ</a:t>
            </a:r>
            <a:endParaRPr lang="ja-JP" altLang="en-US" dirty="0" smtClean="0" sz="40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Bar"/>
          <p:cNvSpPr/>
          <p:nvPr/>
        </p:nvSpPr>
        <p:spPr>
          <a:xfrm>
            <a:off x="540000" y="1044000"/>
            <a:ext cx="2880000" cy="432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4" name="Philosophy"/>
          <p:cNvSpPr/>
          <p:nvPr/>
        </p:nvSpPr>
        <p:spPr>
          <a:xfrm>
            <a:off x="540000" y="1152000"/>
            <a:ext cx="10620000" cy="1440000"/>
          </a:xfrm>
          <a:prstGeom prst="roundRect">
            <a:avLst/>
          </a:prstGeom>
          <a:gradFill>
            <a:gsLst>
              <a:gs pos="0">
                <a:srgbClr val="EBF4FF"/>
              </a:gs>
              <a:gs pos="100000">
                <a:srgbClr val="E6F0FF"/>
              </a:gs>
            </a:gsLst>
            <a:lin ang="8100000" scaled="1"/>
          </a:gradFill>
          <a:ln w="25400">
            <a:solidFill>
              <a:srgbClr val="0078D4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216000" tIns="144000" rIns="180000" bIns="90000">
            <a:noAutofit/>
          </a:bodyPr>
          <a:lstStyle/>
          <a:p>
            <a:pPr algn="l" hangingPunct="1">
              <a:buNone/>
              <a:defRPr lang="ja-JP" altLang="en-US" dirty="0" smtClean="0" sz="28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8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基本思想</a:t>
            </a:r>
            <a:endParaRPr lang="ja-JP" altLang="en-US" dirty="0" smtClean="0" sz="2800" b="1">
              <a:solidFill>
                <a:srgbClr val="0078D4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3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AIを個人の道具からチームの知的基盤へ昇格</a:t>
            </a:r>
            <a:endParaRPr lang="ja-JP" altLang="en-US" dirty="0" smtClean="0" sz="22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個人の補助ツール → 部門プロジェクトの全コンテクストを理解するチームメンバー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5" name="Method"/>
          <p:cNvSpPr/>
          <p:nvPr/>
        </p:nvSpPr>
        <p:spPr>
          <a:xfrm>
            <a:off x="540000" y="2700000"/>
            <a:ext cx="10620000" cy="223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216000" tIns="144000" rIns="180000" bIns="90000">
            <a:noAutofit/>
          </a:bodyPr>
          <a:lstStyle/>
          <a:p>
            <a:pPr algn="l" hangingPunct="1">
              <a:buNone/>
              <a:defRPr lang="ja-JP" altLang="en-US" dirty="0" smtClean="0" sz="2800" b="1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800" b="1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実現方法</a:t>
            </a:r>
            <a:endParaRPr lang="ja-JP" altLang="en-US" dirty="0" smtClean="0" sz="2800" b="1">
              <a:solidFill>
                <a:srgbClr val="059669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4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リポジトリ運用：ガイドライン・設計思想を一元管理</a:t>
            </a:r>
            <a:endParaRPr lang="ja-JP" altLang="en-US" dirty="0" smtClean="0" sz="22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2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ドキュメント更新をAI精度向上に直結：</a:t>
            </a:r>
            <a:endParaRPr lang="ja-JP" altLang="en-US" dirty="0" smtClean="0" sz="22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`docs`更新がAI出力の自動改善に繋がる仕組み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2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組織学習の自動化：レビュー結果を継続的にナレッジ化し反映</a:t>
            </a:r>
            <a:endParaRPr lang="ja-JP" altLang="en-US" dirty="0" smtClean="0" sz="22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6" name="Rules"/>
          <p:cNvSpPr/>
          <p:nvPr/>
        </p:nvSpPr>
        <p:spPr>
          <a:xfrm>
            <a:off x="540000" y="5040000"/>
            <a:ext cx="10620000" cy="1296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txBody>
          <a:bodyPr wrap="square" anchor="t" anchorCtr="0" lIns="216000" tIns="144000" rIns="180000" bIns="90000">
            <a:noAutofit/>
          </a:bodyPr>
          <a:lstStyle/>
          <a:p>
            <a:pPr algn="l" hangingPunct="1">
              <a:buNone/>
              <a:defRPr lang="ja-JP" altLang="en-US" dirty="0" smtClean="0" sz="24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4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運用ルール</a:t>
            </a:r>
            <a:endParaRPr lang="ja-JP" altLang="en-US" dirty="0" smtClean="0" sz="2400" b="1">
              <a:solidFill>
                <a:srgbClr val="D97706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AIエージェントはタスク特化型に分割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docs/ の更新がAIの参照情報を改善し出力精度が自動向上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7" name="PageNumber"/>
          <p:cNvSpPr/>
          <p:nvPr/>
        </p:nvSpPr>
        <p:spPr>
          <a:xfrm>
            <a:off x="5760000" y="6480000"/>
            <a:ext cx="1080000" cy="360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3</a:t>
            </a:r>
            <a:endParaRPr lang="ja-JP" altLang="en-US" dirty="0" smtClean="0" sz="1400">
              <a:solidFill>
                <a:srgbClr val="6B7280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88000"/>
            <a:ext cx="11112119" cy="648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l" hangingPunct="1">
              <a:buNone/>
              <a:def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レビューの役割分担</a:t>
            </a:r>
            <a:endParaRPr lang="ja-JP" altLang="en-US" dirty="0" smtClean="0" sz="40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Bar"/>
          <p:cNvSpPr/>
          <p:nvPr/>
        </p:nvSpPr>
        <p:spPr>
          <a:xfrm>
            <a:off x="540000" y="1044000"/>
            <a:ext cx="3600000" cy="432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4" name="Header0"/>
          <p:cNvSpPr/>
          <p:nvPr/>
        </p:nvSpPr>
        <p:spPr>
          <a:xfrm>
            <a:off x="540000" y="1152000"/>
            <a:ext cx="1800000" cy="432000"/>
          </a:xfrm>
          <a:prstGeom prst="rect">
            <a:avLst/>
          </a:prstGeom>
          <a:solidFill>
            <a:srgbClr val="0078D4"/>
          </a:solidFill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24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4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担当</a:t>
            </a:r>
            <a:endParaRPr lang="ja-JP" altLang="en-US" dirty="0" smtClean="0" sz="24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5" name="Header1"/>
          <p:cNvSpPr/>
          <p:nvPr/>
        </p:nvSpPr>
        <p:spPr>
          <a:xfrm>
            <a:off x="2340000" y="1152000"/>
            <a:ext cx="4320000" cy="432000"/>
          </a:xfrm>
          <a:prstGeom prst="rect">
            <a:avLst/>
          </a:prstGeom>
          <a:solidFill>
            <a:srgbClr val="0078D4"/>
          </a:solidFill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24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4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主な責務</a:t>
            </a:r>
            <a:endParaRPr lang="ja-JP" altLang="en-US" dirty="0" smtClean="0" sz="24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6" name="Header2"/>
          <p:cNvSpPr/>
          <p:nvPr/>
        </p:nvSpPr>
        <p:spPr>
          <a:xfrm>
            <a:off x="6660000" y="1152000"/>
            <a:ext cx="4500000" cy="432000"/>
          </a:xfrm>
          <a:prstGeom prst="rect">
            <a:avLst/>
          </a:prstGeom>
          <a:solidFill>
            <a:srgbClr val="0078D4"/>
          </a:solidFill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24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4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期待効果</a:t>
            </a:r>
            <a:endParaRPr lang="ja-JP" altLang="en-US" dirty="0" smtClean="0" sz="24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7" name="AIRow0"/>
          <p:cNvSpPr/>
          <p:nvPr/>
        </p:nvSpPr>
        <p:spPr>
          <a:xfrm>
            <a:off x="540000" y="1584000"/>
            <a:ext cx="1800000" cy="10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anchor="t" anchorCtr="0" lIns="180000" tIns="90000" rIns="180000" bIns="90000">
            <a:noAutofit/>
          </a:bodyPr>
          <a:lstStyle/>
          <a:p>
            <a:pPr algn="l" hangingPunct="1">
              <a:buNone/>
              <a:defRPr lang="ja-JP" altLang="en-US" dirty="0" smtClean="0" sz="26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6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AI</a:t>
            </a:r>
            <a:endParaRPr lang="ja-JP" altLang="en-US" dirty="0" smtClean="0" sz="2600" b="1">
              <a:solidFill>
                <a:srgbClr val="0078D4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8" name="AIRow1"/>
          <p:cNvSpPr/>
          <p:nvPr/>
        </p:nvSpPr>
        <p:spPr>
          <a:xfrm>
            <a:off x="2340000" y="1584000"/>
            <a:ext cx="4320000" cy="10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anchor="t" anchorCtr="0" lIns="180000" tIns="90000" rIns="180000" bIns="90000">
            <a:noAutofit/>
          </a:bodyPr>
          <a:lstStyle/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コーディング規約違反検出
単純バグ・タイポ検出
機械的検証・一次品質ゲート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9" name="AIRow2"/>
          <p:cNvSpPr/>
          <p:nvPr/>
        </p:nvSpPr>
        <p:spPr>
          <a:xfrm>
            <a:off x="6660000" y="1584000"/>
            <a:ext cx="4500000" cy="10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anchor="t" anchorCtr="0" lIns="180000" tIns="90000" rIns="180000" bIns="90000">
            <a:noAutofit/>
          </a:bodyPr>
          <a:lstStyle/>
          <a:p>
            <a:pPr algn="l" hangingPunct="1">
              <a:buNone/>
              <a:defRPr lang="ja-JP" altLang="en-US" dirty="0" smtClean="0" sz="22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ガイドライン違反を自動検出</a:t>
            </a:r>
            <a:endParaRPr lang="ja-JP" altLang="en-US" dirty="0" smtClean="0" sz="2200" b="1">
              <a:solidFill>
                <a:srgbClr val="0078D4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10" name="HumanRow0"/>
          <p:cNvSpPr/>
          <p:nvPr/>
        </p:nvSpPr>
        <p:spPr>
          <a:xfrm>
            <a:off x="540000" y="2664000"/>
            <a:ext cx="1800000" cy="1080000"/>
          </a:xfrm>
          <a:prstGeom prst="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txBody>
          <a:bodyPr wrap="square" anchor="t" anchorCtr="0" lIns="180000" tIns="90000" rIns="180000" bIns="90000">
            <a:noAutofit/>
          </a:bodyPr>
          <a:lstStyle/>
          <a:p>
            <a:pPr algn="l" hangingPunct="1">
              <a:buNone/>
              <a:defRPr lang="ja-JP" altLang="en-US" dirty="0" smtClean="0" sz="26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6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人間</a:t>
            </a:r>
            <a:endParaRPr lang="ja-JP" altLang="en-US" dirty="0" smtClean="0" sz="26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11" name="HumanRow1"/>
          <p:cNvSpPr/>
          <p:nvPr/>
        </p:nvSpPr>
        <p:spPr>
          <a:xfrm>
            <a:off x="2340000" y="2664000"/>
            <a:ext cx="4320000" cy="1080000"/>
          </a:xfrm>
          <a:prstGeom prst="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txBody>
          <a:bodyPr wrap="square" anchor="t" anchorCtr="0" lIns="180000" tIns="90000" rIns="180000" bIns="90000">
            <a:noAutofit/>
          </a:bodyPr>
          <a:lstStyle/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ビジネスロジック検証
アーキテクチャ判断
ドメイン知識適用・最終判断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12" name="HumanRow2"/>
          <p:cNvSpPr/>
          <p:nvPr/>
        </p:nvSpPr>
        <p:spPr>
          <a:xfrm>
            <a:off x="6660000" y="2664000"/>
            <a:ext cx="4500000" cy="1080000"/>
          </a:xfrm>
          <a:prstGeom prst="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txBody>
          <a:bodyPr wrap="square" anchor="t" anchorCtr="0" lIns="180000" tIns="90000" rIns="180000" bIns="90000">
            <a:noAutofit/>
          </a:bodyPr>
          <a:lstStyle/>
          <a:p>
            <a:pPr algn="l" hangingPunct="1">
              <a:buNone/>
              <a:defRPr lang="ja-JP" altLang="en-US" dirty="0" smtClean="0" sz="22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本質的な設計議論に集中
レビュー工数削減</a:t>
            </a:r>
            <a:endParaRPr lang="ja-JP" altLang="en-US" dirty="0" smtClean="0" sz="22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13" name="PageNumber"/>
          <p:cNvSpPr/>
          <p:nvPr/>
        </p:nvSpPr>
        <p:spPr>
          <a:xfrm>
            <a:off x="5760000" y="6480000"/>
            <a:ext cx="1080000" cy="360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4</a:t>
            </a:r>
            <a:endParaRPr lang="ja-JP" altLang="en-US" dirty="0" smtClean="0" sz="1400">
              <a:solidFill>
                <a:srgbClr val="6B7280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88000"/>
            <a:ext cx="11112119" cy="648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l" hangingPunct="1">
              <a:buNone/>
              <a:def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共通基盤の構造</a:t>
            </a:r>
            <a:endParaRPr lang="ja-JP" altLang="en-US" dirty="0" smtClean="0" sz="40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Bar"/>
          <p:cNvSpPr/>
          <p:nvPr/>
        </p:nvSpPr>
        <p:spPr>
          <a:xfrm>
            <a:off x="540000" y="1044000"/>
            <a:ext cx="3600000" cy="432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4" name="Core"/>
          <p:cNvSpPr/>
          <p:nvPr/>
        </p:nvSpPr>
        <p:spPr>
          <a:xfrm>
            <a:off x="540000" y="1152000"/>
            <a:ext cx="10620000" cy="720000"/>
          </a:xfrm>
          <a:prstGeom prst="roundRect">
            <a:avLst/>
          </a:prstGeom>
          <a:gradFill>
            <a:gsLst>
              <a:gs pos="0">
                <a:srgbClr val="1A365D"/>
              </a:gs>
              <a:gs pos="100000">
                <a:srgbClr val="1E40AF"/>
              </a:gs>
            </a:gsLst>
            <a:lin ang="5400000" scaled="1"/>
          </a:gradFill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24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4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コア設計思想：ガイドラインとエージェント定義をリポジトリで一元管理</a:t>
            </a:r>
            <a:endParaRPr lang="ja-JP" altLang="en-US" dirty="0" smtClean="0" sz="24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5" name="SpecKit"/>
          <p:cNvSpPr/>
          <p:nvPr/>
        </p:nvSpPr>
        <p:spPr>
          <a:xfrm>
            <a:off x="540000" y="2052000"/>
            <a:ext cx="5220000" cy="1260000"/>
          </a:xfrm>
          <a:prstGeom prst="roundRect">
            <a:avLst/>
          </a:prstGeom>
          <a:gradFill>
            <a:gsLst>
              <a:gs pos="0">
                <a:srgbClr val="0078D4"/>
              </a:gs>
              <a:gs pos="100000">
                <a:srgbClr val="1E40AF"/>
              </a:gs>
            </a:gsLst>
            <a:lin ang="81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44000" rIns="180000" bIns="90000">
            <a:noAutofit/>
          </a:bodyPr>
          <a:lstStyle/>
          <a:p>
            <a:pPr algn="ctr" hangingPunct="1">
              <a:buNone/>
              <a:defRPr lang="ja-JP" altLang="en-US" dirty="0" smtClean="0" sz="24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4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仕様ドリブン（spec-kit）</a:t>
            </a:r>
            <a:endParaRPr lang="ja-JP" altLang="en-US" dirty="0" smtClean="0" sz="24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3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スキル差が発生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800">
                <a:solidFill>
                  <a:srgbClr val="E6F0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>
                <a:solidFill>
                  <a:srgbClr val="E6F0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（担当者の経験差を仕様で吸収）</a:t>
            </a:r>
            <a:endParaRPr lang="ja-JP" altLang="en-US" dirty="0" smtClean="0" sz="1800">
              <a:solidFill>
                <a:srgbClr val="E6F0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6" name="Agent"/>
          <p:cNvSpPr/>
          <p:nvPr/>
        </p:nvSpPr>
        <p:spPr>
          <a:xfrm>
            <a:off x="5940000" y="2052000"/>
            <a:ext cx="5220000" cy="1260000"/>
          </a:xfrm>
          <a:prstGeom prst="roundRect">
            <a:avLst/>
          </a:prstGeom>
          <a:gradFill>
            <a:gsLst>
              <a:gs pos="0">
                <a:srgbClr val="059669"/>
              </a:gs>
              <a:gs pos="100000">
                <a:srgbClr val="0D9488"/>
              </a:gs>
            </a:gsLst>
            <a:lin ang="81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44000" rIns="180000" bIns="90000">
            <a:noAutofit/>
          </a:bodyPr>
          <a:lstStyle/>
          <a:p>
            <a:pPr algn="ctr" hangingPunct="1">
              <a:buNone/>
              <a:defRPr lang="ja-JP" altLang="en-US" dirty="0" smtClean="0" sz="24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4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AIエージェント（各skill.md）</a:t>
            </a:r>
            <a:endParaRPr lang="ja-JP" altLang="en-US" dirty="0" smtClean="0" sz="24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3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誰でも一定水準の品質を実現</a:t>
            </a:r>
            <a:endParaRPr lang="ja-JP" altLang="en-US" dirty="0" smtClean="0" sz="20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800">
                <a:solidFill>
                  <a:srgbClr val="D1FAE5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>
                <a:solidFill>
                  <a:srgbClr val="D1FAE5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（PDF/PPTX/XLSXの読み書き可）</a:t>
            </a:r>
            <a:endParaRPr lang="ja-JP" altLang="en-US" dirty="0" smtClean="0" sz="1800">
              <a:solidFill>
                <a:srgbClr val="D1FAE5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7" name="RepoLabel"/>
          <p:cNvSpPr/>
          <p:nvPr/>
        </p:nvSpPr>
        <p:spPr>
          <a:xfrm>
            <a:off x="540000" y="3491999"/>
            <a:ext cx="10620000" cy="288000"/>
          </a:xfrm>
          <a:prstGeom prst="rect">
            <a:avLst/>
          </a:prstGeom>
          <a:solidFill>
            <a:srgbClr val="4A5568"/>
          </a:solidFill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22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リポジトリ構成（例）</a:t>
            </a:r>
            <a:endParaRPr lang="ja-JP" altLang="en-US" dirty="0" smtClean="0" sz="22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8" name="Folder0"/>
          <p:cNvSpPr/>
          <p:nvPr/>
        </p:nvSpPr>
        <p:spPr>
          <a:xfrm>
            <a:off x="540000" y="3888000"/>
            <a:ext cx="2520000" cy="1980000"/>
          </a:xfrm>
          <a:prstGeom prst="roundRect">
            <a:avLst/>
          </a:prstGeom>
          <a:solidFill>
            <a:srgbClr val="0078D4"/>
          </a:soli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44000" tIns="108000" rIns="180000" bIns="90000">
            <a:noAutofit/>
          </a:bodyPr>
          <a:lstStyle/>
          <a:p>
            <a:pPr algn="l" hangingPunct="1">
              <a:buNone/>
              <a:defRPr lang="ja-JP" altLang="en-US" dirty="0" smtClean="0" sz="18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.specify/templates/</a:t>
            </a:r>
            <a:endParaRPr lang="ja-JP" altLang="en-US" dirty="0" smtClean="0" sz="18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2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spec-template.md</a:t>
            </a:r>
            <a:endParaRPr lang="ja-JP" altLang="en-US" dirty="0" smtClean="0" sz="14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plan-template.md</a:t>
            </a:r>
            <a:endParaRPr lang="ja-JP" altLang="en-US" dirty="0" smtClean="0" sz="14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tasks-template.md</a:t>
            </a:r>
            <a:endParaRPr lang="ja-JP" altLang="en-US" dirty="0" smtClean="0" sz="14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9" name="Label0"/>
          <p:cNvSpPr/>
          <p:nvPr/>
        </p:nvSpPr>
        <p:spPr>
          <a:xfrm>
            <a:off x="540000" y="5904000"/>
            <a:ext cx="2520000" cy="21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78D4"/>
            </a:solidFill>
          </a:ln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16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6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仕様エージェント</a:t>
            </a:r>
            <a:endParaRPr lang="ja-JP" altLang="en-US" dirty="0" smtClean="0" sz="1600" b="1">
              <a:solidFill>
                <a:srgbClr val="0078D4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10" name="Folder1"/>
          <p:cNvSpPr/>
          <p:nvPr/>
        </p:nvSpPr>
        <p:spPr>
          <a:xfrm>
            <a:off x="3240000" y="3888000"/>
            <a:ext cx="2520000" cy="1980000"/>
          </a:xfrm>
          <a:prstGeom prst="roundRect">
            <a:avLst/>
          </a:prstGeom>
          <a:solidFill>
            <a:srgbClr val="059669"/>
          </a:soli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44000" tIns="108000" rIns="180000" bIns="90000">
            <a:noAutofit/>
          </a:bodyPr>
          <a:lstStyle/>
          <a:p>
            <a:pPr algn="l" hangingPunct="1">
              <a:buNone/>
              <a:defRPr lang="ja-JP" altLang="en-US" dirty="0" smtClean="0" sz="18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.github/agents/</a:t>
            </a:r>
            <a:endParaRPr lang="ja-JP" altLang="en-US" dirty="0" smtClean="0" sz="18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2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api-spec-reviewer.md</a:t>
            </a:r>
            <a:endParaRPr lang="ja-JP" altLang="en-US" dirty="0" smtClean="0" sz="14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code-reviewer.md</a:t>
            </a:r>
            <a:endParaRPr lang="ja-JP" altLang="en-US" dirty="0" smtClean="0" sz="14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e2e-test-implementer.md</a:t>
            </a:r>
            <a:endParaRPr lang="ja-JP" altLang="en-US" dirty="0" smtClean="0" sz="14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11" name="Label1"/>
          <p:cNvSpPr/>
          <p:nvPr/>
        </p:nvSpPr>
        <p:spPr>
          <a:xfrm>
            <a:off x="3240000" y="5904000"/>
            <a:ext cx="2520000" cy="21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1600" b="1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600" b="1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レビューエージェント</a:t>
            </a:r>
            <a:endParaRPr lang="ja-JP" altLang="en-US" dirty="0" smtClean="0" sz="1600" b="1">
              <a:solidFill>
                <a:srgbClr val="059669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12" name="Folder2"/>
          <p:cNvSpPr/>
          <p:nvPr/>
        </p:nvSpPr>
        <p:spPr>
          <a:xfrm>
            <a:off x="5940000" y="3888000"/>
            <a:ext cx="2520000" cy="1980000"/>
          </a:xfrm>
          <a:prstGeom prst="roundRect">
            <a:avLst/>
          </a:prstGeom>
          <a:solidFill>
            <a:srgbClr val="7C3AED"/>
          </a:soli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44000" tIns="108000" rIns="180000" bIns="90000">
            <a:noAutofit/>
          </a:bodyPr>
          <a:lstStyle/>
          <a:p>
            <a:pPr algn="l" hangingPunct="1">
              <a:buNone/>
              <a:defRPr lang="ja-JP" altLang="en-US" dirty="0" smtClean="0" sz="18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.github/skills/</a:t>
            </a:r>
            <a:endParaRPr lang="ja-JP" altLang="en-US" dirty="0" smtClean="0" sz="18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2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pdf/SKILL.md</a:t>
            </a:r>
            <a:endParaRPr lang="ja-JP" altLang="en-US" dirty="0" smtClean="0" sz="14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pptx/SKILL.md</a:t>
            </a:r>
            <a:endParaRPr lang="ja-JP" altLang="en-US" dirty="0" smtClean="0" sz="14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xlsx/SKILL.md</a:t>
            </a:r>
            <a:endParaRPr lang="ja-JP" altLang="en-US" dirty="0" smtClean="0" sz="14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13" name="Label2"/>
          <p:cNvSpPr/>
          <p:nvPr/>
        </p:nvSpPr>
        <p:spPr>
          <a:xfrm>
            <a:off x="5940000" y="5904000"/>
            <a:ext cx="2520000" cy="21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1600" b="1">
                <a:solidFill>
                  <a:srgbClr val="7C3AE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600" b="1">
                <a:solidFill>
                  <a:srgbClr val="7C3AE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スキルエージェント</a:t>
            </a:r>
            <a:endParaRPr lang="ja-JP" altLang="en-US" dirty="0" smtClean="0" sz="1600" b="1">
              <a:solidFill>
                <a:srgbClr val="7C3AE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14" name="Folder3"/>
          <p:cNvSpPr/>
          <p:nvPr/>
        </p:nvSpPr>
        <p:spPr>
          <a:xfrm>
            <a:off x="8640000" y="3888000"/>
            <a:ext cx="2520000" cy="1980000"/>
          </a:xfrm>
          <a:prstGeom prst="roundRect">
            <a:avLst/>
          </a:prstGeom>
          <a:solidFill>
            <a:srgbClr val="D97706"/>
          </a:soli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44000" tIns="108000" rIns="180000" bIns="90000">
            <a:noAutofit/>
          </a:bodyPr>
          <a:lstStyle/>
          <a:p>
            <a:pPr algn="l" hangingPunct="1">
              <a:buNone/>
              <a:defRPr lang="ja-JP" altLang="en-US" dirty="0" smtClean="0" sz="18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8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docs/</a:t>
            </a:r>
            <a:endParaRPr lang="ja-JP" altLang="en-US" dirty="0" smtClean="0" sz="18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2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api_development_guideline.md</a:t>
            </a:r>
            <a:endParaRPr lang="ja-JP" altLang="en-US" dirty="0" smtClean="0" sz="14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coding_guidelines.md</a:t>
            </a:r>
            <a:endParaRPr lang="ja-JP" altLang="en-US" dirty="0" smtClean="0" sz="14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architecture.md</a:t>
            </a:r>
            <a:endParaRPr lang="ja-JP" altLang="en-US" dirty="0" smtClean="0" sz="14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15" name="Label3"/>
          <p:cNvSpPr/>
          <p:nvPr/>
        </p:nvSpPr>
        <p:spPr>
          <a:xfrm>
            <a:off x="8640000" y="5904000"/>
            <a:ext cx="2520000" cy="21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16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6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ガイドライン</a:t>
            </a:r>
            <a:endParaRPr lang="ja-JP" altLang="en-US" dirty="0" smtClean="0" sz="1600" b="1">
              <a:solidFill>
                <a:srgbClr val="D97706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16" name="PageNumber"/>
          <p:cNvSpPr/>
          <p:nvPr/>
        </p:nvSpPr>
        <p:spPr>
          <a:xfrm>
            <a:off x="5760000" y="6480000"/>
            <a:ext cx="1080000" cy="360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5</a:t>
            </a:r>
            <a:endParaRPr lang="ja-JP" altLang="en-US" dirty="0" smtClean="0" sz="1400">
              <a:solidFill>
                <a:srgbClr val="6B7280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88000"/>
            <a:ext cx="11112119" cy="648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l" hangingPunct="1">
              <a:buNone/>
              <a:def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開発ワークフロー</a:t>
            </a:r>
            <a:endParaRPr lang="ja-JP" altLang="en-US" dirty="0" smtClean="0" sz="40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Bar"/>
          <p:cNvSpPr/>
          <p:nvPr/>
        </p:nvSpPr>
        <p:spPr>
          <a:xfrm>
            <a:off x="540000" y="1044000"/>
            <a:ext cx="3600000" cy="432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4" name="Step1"/>
          <p:cNvSpPr/>
          <p:nvPr/>
        </p:nvSpPr>
        <p:spPr>
          <a:xfrm>
            <a:off x="540000" y="1152000"/>
            <a:ext cx="10620000" cy="1655999"/>
          </a:xfrm>
          <a:prstGeom prst="roundRect">
            <a:avLst/>
          </a:prstGeom>
          <a:gradFill>
            <a:gsLst>
              <a:gs pos="0">
                <a:srgbClr val="0078D4"/>
              </a:gs>
              <a:gs pos="100000">
                <a:srgbClr val="1E40AF"/>
              </a:gs>
            </a:gsLst>
            <a:lin ang="81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44000" rIns="180000" bIns="90000">
            <a:noAutofit/>
          </a:bodyPr>
          <a:lstStyle/>
          <a:p>
            <a:pPr algn="l" hangingPunct="1">
              <a:buNone/>
              <a:defRPr lang="ja-JP" altLang="en-US" dirty="0" smtClean="0" sz="28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8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1. 実装</a:t>
            </a:r>
            <a:endParaRPr lang="ja-JP" altLang="en-US" dirty="0" smtClean="0" sz="28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3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参加者：開発者 + Copilot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流れ：`docs`参照 → ガイドライン準拠コード生成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cxnSp>
        <p:nvCxnSpPr>
          <p:cNvPr id="5" name="Arrow1"/>
          <p:cNvCxnSpPr/>
          <p:nvPr/>
        </p:nvCxnSpPr>
        <p:spPr>
          <a:xfrm>
            <a:off x="5760000" y="2843999"/>
            <a:ext cx="1" cy="180000"/>
          </a:xfrm>
          <a:prstGeom prst="straightConnector1">
            <a:avLst/>
          </a:prstGeom>
          <a:ln w="50800">
            <a:solidFill>
              <a:srgbClr val="0078D4"/>
            </a:solidFill>
            <a:tailEnd type="triangle" w="lg" len="lg"/>
          </a:ln>
        </p:spPr>
      </p:cxnSp>
      <p:sp>
        <p:nvSpPr>
          <p:cNvPr id="6" name="Step2"/>
          <p:cNvSpPr/>
          <p:nvPr/>
        </p:nvSpPr>
        <p:spPr>
          <a:xfrm>
            <a:off x="540000" y="2987999"/>
            <a:ext cx="10620000" cy="1655999"/>
          </a:xfrm>
          <a:prstGeom prst="roundRect">
            <a:avLst/>
          </a:prstGeom>
          <a:gradFill>
            <a:gsLst>
              <a:gs pos="0">
                <a:srgbClr val="059669"/>
              </a:gs>
              <a:gs pos="100000">
                <a:srgbClr val="0D9488"/>
              </a:gs>
            </a:gsLst>
            <a:lin ang="81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44000" rIns="180000" bIns="90000">
            <a:noAutofit/>
          </a:bodyPr>
          <a:lstStyle/>
          <a:p>
            <a:pPr algn="l" hangingPunct="1">
              <a:buNone/>
              <a:defRPr lang="ja-JP" altLang="en-US" dirty="0" smtClean="0" sz="28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8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2. レビュー</a:t>
            </a:r>
            <a:endParaRPr lang="ja-JP" altLang="en-US" dirty="0" smtClean="0" sz="28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3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トリガー：PR作成 → GitHub Actions起動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9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9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処理：ファイル種別に応じたAIエージェントが自動検査</a:t>
            </a:r>
            <a:endParaRPr lang="ja-JP" altLang="en-US" dirty="0" smtClean="0" sz="19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9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9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出力：重要度ラベル付き指摘 → 開発者修正 → 人間が最終判定</a:t>
            </a:r>
            <a:endParaRPr lang="ja-JP" altLang="en-US" dirty="0" smtClean="0" sz="19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cxnSp>
        <p:nvCxnSpPr>
          <p:cNvPr id="7" name="Arrow2"/>
          <p:cNvCxnSpPr/>
          <p:nvPr/>
        </p:nvCxnSpPr>
        <p:spPr>
          <a:xfrm>
            <a:off x="5760000" y="4679998"/>
            <a:ext cx="1" cy="180000"/>
          </a:xfrm>
          <a:prstGeom prst="straightConnector1">
            <a:avLst/>
          </a:prstGeom>
          <a:ln w="50800">
            <a:solidFill>
              <a:srgbClr val="059669"/>
            </a:solidFill>
            <a:tailEnd type="triangle" w="lg" len="lg"/>
          </a:ln>
        </p:spPr>
      </p:cxnSp>
      <p:sp>
        <p:nvSpPr>
          <p:cNvPr id="8" name="Step3"/>
          <p:cNvSpPr/>
          <p:nvPr/>
        </p:nvSpPr>
        <p:spPr>
          <a:xfrm>
            <a:off x="540000" y="4823998"/>
            <a:ext cx="10620000" cy="1655999"/>
          </a:xfrm>
          <a:prstGeom prst="roundRect">
            <a:avLst/>
          </a:prstGeom>
          <a:gradFill>
            <a:gsLst>
              <a:gs pos="0">
                <a:srgbClr val="D97706"/>
              </a:gs>
              <a:gs pos="100000">
                <a:srgbClr val="B45309"/>
              </a:gs>
            </a:gsLst>
            <a:lin ang="81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44000" rIns="180000" bIns="90000">
            <a:noAutofit/>
          </a:bodyPr>
          <a:lstStyle/>
          <a:p>
            <a:pPr algn="l" hangingPunct="1">
              <a:buNone/>
              <a:defRPr lang="ja-JP" altLang="en-US" dirty="0" smtClean="0" sz="28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8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3. ナレッジ蓄積の自動化</a:t>
            </a:r>
            <a:endParaRPr lang="ja-JP" altLang="en-US" dirty="0" smtClean="0" sz="28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3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流れ：レビュー指摘をAIが分析・本質抽出 →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19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9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ドキュメント更新PRを自動作成 → 承認 → 次回から新ルールが自動反映</a:t>
            </a:r>
            <a:endParaRPr lang="ja-JP" altLang="en-US" dirty="0" smtClean="0" sz="19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9" name="PageNumber"/>
          <p:cNvSpPr/>
          <p:nvPr/>
        </p:nvSpPr>
        <p:spPr>
          <a:xfrm>
            <a:off x="5760000" y="6480000"/>
            <a:ext cx="1080000" cy="360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6</a:t>
            </a:r>
            <a:endParaRPr lang="ja-JP" altLang="en-US" dirty="0" smtClean="0" sz="1400">
              <a:solidFill>
                <a:srgbClr val="6B7280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88000"/>
            <a:ext cx="11112119" cy="648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l" hangingPunct="1">
              <a:buNone/>
              <a:def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期待される効果</a:t>
            </a:r>
            <a:endParaRPr lang="ja-JP" altLang="en-US" dirty="0" smtClean="0" sz="40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Bar"/>
          <p:cNvSpPr/>
          <p:nvPr/>
        </p:nvSpPr>
        <p:spPr>
          <a:xfrm>
            <a:off x="540000" y="1044000"/>
            <a:ext cx="3600000" cy="432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4" name="Developer"/>
          <p:cNvSpPr/>
          <p:nvPr/>
        </p:nvSpPr>
        <p:spPr>
          <a:xfrm>
            <a:off x="540000" y="1152000"/>
            <a:ext cx="2592000" cy="2520000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0078D4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80000" rIns="180000" bIns="90000">
            <a:noAutofit/>
          </a:bodyPr>
          <a:lstStyle/>
          <a:p>
            <a:pPr algn="ctr" hangingPunct="1">
              <a:buNone/>
              <a:defRPr lang="ja-JP" altLang="en-US" dirty="0" smtClean="0" sz="26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6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開発者</a:t>
            </a:r>
            <a:endParaRPr lang="ja-JP" altLang="en-US" dirty="0" smtClean="0" sz="2600" b="1">
              <a:solidFill>
                <a:srgbClr val="0078D4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6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作業負荷軽減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学習機会増加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5" name="Reviewer"/>
          <p:cNvSpPr/>
          <p:nvPr/>
        </p:nvSpPr>
        <p:spPr>
          <a:xfrm>
            <a:off x="3311999" y="1152000"/>
            <a:ext cx="2592000" cy="2520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80000" rIns="180000" bIns="90000">
            <a:noAutofit/>
          </a:bodyPr>
          <a:lstStyle/>
          <a:p>
            <a:pPr algn="ctr" hangingPunct="1">
              <a:buNone/>
              <a:defRPr lang="ja-JP" altLang="en-US" dirty="0" smtClean="0" sz="2600" b="1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600" b="1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レビュアー</a:t>
            </a:r>
            <a:endParaRPr lang="ja-JP" altLang="en-US" dirty="0" smtClean="0" sz="2600" b="1">
              <a:solidFill>
                <a:srgbClr val="059669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6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本質的設計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議論に集中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ストレス軽減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6" name="Manager"/>
          <p:cNvSpPr/>
          <p:nvPr/>
        </p:nvSpPr>
        <p:spPr>
          <a:xfrm>
            <a:off x="6083999" y="1152000"/>
            <a:ext cx="2592000" cy="2520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80000" rIns="180000" bIns="90000">
            <a:noAutofit/>
          </a:bodyPr>
          <a:lstStyle/>
          <a:p>
            <a:pPr algn="ctr" hangingPunct="1">
              <a:buNone/>
              <a:defRPr lang="ja-JP" altLang="en-US" dirty="0" smtClean="0" sz="26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6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マネージャー</a:t>
            </a:r>
            <a:endParaRPr lang="ja-JP" altLang="en-US" dirty="0" smtClean="0" sz="2600" b="1">
              <a:solidFill>
                <a:srgbClr val="D97706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6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効率・品質基準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の可視化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7" name="Org"/>
          <p:cNvSpPr/>
          <p:nvPr/>
        </p:nvSpPr>
        <p:spPr>
          <a:xfrm>
            <a:off x="8856000" y="1152000"/>
            <a:ext cx="2484000" cy="252000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80000" rIns="180000" bIns="90000">
            <a:noAutofit/>
          </a:bodyPr>
          <a:lstStyle/>
          <a:p>
            <a:pPr algn="ctr" hangingPunct="1">
              <a:buNone/>
              <a:defRPr lang="ja-JP" altLang="en-US" dirty="0" smtClean="0" sz="2600" b="1">
                <a:solidFill>
                  <a:srgbClr val="7C3AE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600" b="1">
                <a:solidFill>
                  <a:srgbClr val="7C3AE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組織</a:t>
            </a:r>
            <a:endParaRPr lang="ja-JP" altLang="en-US" dirty="0" smtClean="0" sz="2600" b="1">
              <a:solidFill>
                <a:srgbClr val="7C3AE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6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技術負債削減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保守性向上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知的資産蓄積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8" name="Summary"/>
          <p:cNvSpPr/>
          <p:nvPr/>
        </p:nvSpPr>
        <p:spPr>
          <a:xfrm>
            <a:off x="540000" y="3960000"/>
            <a:ext cx="10620000" cy="1620000"/>
          </a:xfrm>
          <a:prstGeom prst="roundRect">
            <a:avLst/>
          </a:prstGeom>
          <a:gradFill>
            <a:gsLst>
              <a:gs pos="0">
                <a:srgbClr val="1A365D"/>
              </a:gs>
              <a:gs pos="100000">
                <a:srgbClr val="1E40AF"/>
              </a:gs>
            </a:gsLst>
            <a:lin ang="5400000" scaled="1"/>
          </a:gradFill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24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4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個人と組織の両方に効果をもたらし、</a:t>
            </a:r>
            <a:endParaRPr lang="ja-JP" altLang="en-US" dirty="0" smtClean="0" sz="24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ctr" hangingPunct="1">
              <a:buNone/>
              <a:defRPr lang="ja-JP" altLang="en-US" dirty="0" smtClean="0" sz="24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4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持続的な改善サイクルを実現</a:t>
            </a:r>
            <a:endParaRPr lang="ja-JP" altLang="en-US" dirty="0" smtClean="0" sz="24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9" name="PageNumber"/>
          <p:cNvSpPr/>
          <p:nvPr/>
        </p:nvSpPr>
        <p:spPr>
          <a:xfrm>
            <a:off x="5760000" y="6480000"/>
            <a:ext cx="1080000" cy="360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7</a:t>
            </a:r>
            <a:endParaRPr lang="ja-JP" altLang="en-US" dirty="0" smtClean="0" sz="1400">
              <a:solidFill>
                <a:srgbClr val="6B7280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88000"/>
            <a:ext cx="11112119" cy="648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l" hangingPunct="1">
              <a:buNone/>
              <a:def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組織・人への効果</a:t>
            </a:r>
            <a:endParaRPr lang="ja-JP" altLang="en-US" dirty="0" smtClean="0" sz="40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Bar"/>
          <p:cNvSpPr/>
          <p:nvPr/>
        </p:nvSpPr>
        <p:spPr>
          <a:xfrm>
            <a:off x="540000" y="1044000"/>
            <a:ext cx="3600000" cy="432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4" name="Quality"/>
          <p:cNvSpPr/>
          <p:nvPr/>
        </p:nvSpPr>
        <p:spPr>
          <a:xfrm>
            <a:off x="540000" y="1152000"/>
            <a:ext cx="3420000" cy="3240000"/>
          </a:xfrm>
          <a:prstGeom prst="roundRect">
            <a:avLst/>
          </a:prstGeom>
          <a:gradFill>
            <a:gsLst>
              <a:gs pos="0">
                <a:srgbClr val="EBF4FF"/>
              </a:gs>
              <a:gs pos="100000">
                <a:srgbClr val="E6F0FF"/>
              </a:gs>
            </a:gsLst>
            <a:lin ang="8100000" scaled="1"/>
          </a:gradFill>
          <a:ln w="19050">
            <a:solidFill>
              <a:srgbClr val="0078D4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44000" rIns="180000" bIns="90000">
            <a:noAutofit/>
          </a:bodyPr>
          <a:lstStyle/>
          <a:p>
            <a:pPr algn="ctr" hangingPunct="1">
              <a:buNone/>
              <a:defRPr lang="ja-JP" altLang="en-US" dirty="0" smtClean="0" sz="26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6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品質の標準化</a:t>
            </a:r>
            <a:endParaRPr lang="ja-JP" altLang="en-US" dirty="0" smtClean="0" sz="2600" b="1">
              <a:solidFill>
                <a:srgbClr val="0078D4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4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スキル差に依存しない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一定水準の成果物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3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新メンバーの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立ち上がり高速化</a:t>
            </a:r>
            <a:endParaRPr lang="ja-JP" altLang="en-US" dirty="0" smtClean="0" sz="2200" b="1">
              <a:solidFill>
                <a:srgbClr val="0078D4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5" name="Learning"/>
          <p:cNvSpPr/>
          <p:nvPr/>
        </p:nvSpPr>
        <p:spPr>
          <a:xfrm>
            <a:off x="4140000" y="1152000"/>
            <a:ext cx="3420000" cy="3240000"/>
          </a:xfrm>
          <a:prstGeom prst="roundRect">
            <a:avLst/>
          </a:prstGeom>
          <a:gradFill>
            <a:gsLst>
              <a:gs pos="0">
                <a:srgbClr val="F0FDF4"/>
              </a:gs>
              <a:gs pos="100000">
                <a:srgbClr val="D1FAE5"/>
              </a:gs>
            </a:gsLst>
            <a:lin ang="8100000" scaled="1"/>
          </a:gradFill>
          <a:ln w="19050">
            <a:solidFill>
              <a:srgbClr val="059669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44000" rIns="180000" bIns="90000">
            <a:noAutofit/>
          </a:bodyPr>
          <a:lstStyle/>
          <a:p>
            <a:pPr algn="ctr" hangingPunct="1">
              <a:buNone/>
              <a:defRPr lang="ja-JP" altLang="en-US" dirty="0" smtClean="0" sz="2600" b="1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600" b="1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学習の仕組み化</a:t>
            </a:r>
            <a:endParaRPr lang="ja-JP" altLang="en-US" dirty="0" smtClean="0" sz="2600" b="1">
              <a:solidFill>
                <a:srgbClr val="059669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4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レビュー指摘→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ドキュメント化→</a:t>
            </a:r>
            <a:endParaRPr lang="ja-JP" altLang="en-US" dirty="0" smtClean="0" sz="2000">
              <a:solidFill>
                <a:srgbClr val="059669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AI反映の</a:t>
            </a:r>
            <a:endParaRPr lang="ja-JP" altLang="en-US" dirty="0" smtClean="0" sz="2000">
              <a:solidFill>
                <a:srgbClr val="059669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 b="1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継続学習ループ</a:t>
            </a:r>
            <a:endParaRPr lang="ja-JP" altLang="en-US" dirty="0" smtClean="0" sz="2200" b="1">
              <a:solidFill>
                <a:srgbClr val="059669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6" name="Eliminate"/>
          <p:cNvSpPr/>
          <p:nvPr/>
        </p:nvSpPr>
        <p:spPr>
          <a:xfrm>
            <a:off x="7740000" y="1152000"/>
            <a:ext cx="3420000" cy="3240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44000" rIns="180000" bIns="90000">
            <a:noAutofit/>
          </a:bodyPr>
          <a:lstStyle/>
          <a:p>
            <a:pPr algn="ctr" hangingPunct="1">
              <a:buNone/>
              <a:defRPr lang="ja-JP" altLang="en-US" dirty="0" smtClean="0" sz="26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6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属人化排除</a:t>
            </a:r>
            <a:endParaRPr lang="ja-JP" altLang="en-US" dirty="0" smtClean="0" sz="2600" b="1">
              <a:solidFill>
                <a:srgbClr val="D97706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4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レビュー可能な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人材の拡大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4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ベンダーコントロール</a:t>
            </a:r>
            <a:endParaRPr lang="ja-JP" altLang="en-US" dirty="0" smtClean="0" sz="2200" b="1">
              <a:solidFill>
                <a:srgbClr val="D97706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力の向上</a:t>
            </a:r>
            <a:endParaRPr lang="ja-JP" altLang="en-US" dirty="0" smtClean="0" sz="2200" b="1">
              <a:solidFill>
                <a:srgbClr val="D97706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7" name="Summary"/>
          <p:cNvSpPr/>
          <p:nvPr/>
        </p:nvSpPr>
        <p:spPr>
          <a:xfrm>
            <a:off x="540000" y="4680000"/>
            <a:ext cx="10620000" cy="10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B7280"/>
            </a:solidFill>
          </a:ln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22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→ 開発組織全体の競争力と持続可能性を高める基盤構築</a:t>
            </a:r>
            <a:endParaRPr lang="ja-JP" altLang="en-US" dirty="0" smtClean="0" sz="22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8" name="PageNumber"/>
          <p:cNvSpPr/>
          <p:nvPr/>
        </p:nvSpPr>
        <p:spPr>
          <a:xfrm>
            <a:off x="5760000" y="6480000"/>
            <a:ext cx="1080000" cy="360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8</a:t>
            </a:r>
            <a:endParaRPr lang="ja-JP" altLang="en-US" dirty="0" smtClean="0" sz="1400">
              <a:solidFill>
                <a:srgbClr val="6B7280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88000"/>
            <a:ext cx="11112119" cy="648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l" hangingPunct="1">
              <a:buNone/>
              <a:def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導入における留意点</a:t>
            </a:r>
            <a:endParaRPr lang="ja-JP" altLang="en-US" dirty="0" smtClean="0" sz="40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Bar"/>
          <p:cNvSpPr/>
          <p:nvPr/>
        </p:nvSpPr>
        <p:spPr>
          <a:xfrm>
            <a:off x="540000" y="1044000"/>
            <a:ext cx="3600000" cy="432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Risk1"/>
          <p:cNvSpPr/>
          <p:nvPr/>
        </p:nvSpPr>
        <p:spPr>
          <a:xfrm>
            <a:off x="540000" y="1152000"/>
            <a:ext cx="3420000" cy="3240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44000" rIns="180000" bIns="90000">
            <a:noAutofit/>
          </a:bodyPr>
          <a:lstStyle/>
          <a:p>
            <a:pPr algn="ctr" hangingPunct="1">
              <a:buNone/>
              <a:defRPr lang="ja-JP" altLang="en-US" dirty="0" smtClean="0" sz="2400" b="1">
                <a:solidFill>
                  <a:srgbClr val="DC262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400" b="1">
                <a:solidFill>
                  <a:srgbClr val="DC262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AI品質ばらつき</a:t>
            </a:r>
            <a:endParaRPr lang="ja-JP" altLang="en-US" dirty="0" smtClean="0" sz="2400" b="1">
              <a:solidFill>
                <a:srgbClr val="DC2626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6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 b="1">
                <a:solidFill>
                  <a:srgbClr val="111827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111827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対応策</a:t>
            </a:r>
            <a:endParaRPr lang="ja-JP" altLang="en-US" dirty="0" smtClean="0" sz="2200" b="1">
              <a:solidFill>
                <a:srgbClr val="111827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3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ガイドライン整備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2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エージェント責務を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明確化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5" name="Risk2"/>
          <p:cNvSpPr/>
          <p:nvPr/>
        </p:nvSpPr>
        <p:spPr>
          <a:xfrm>
            <a:off x="4140000" y="1152000"/>
            <a:ext cx="3420000" cy="3240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44000" rIns="180000" bIns="90000">
            <a:noAutofit/>
          </a:bodyPr>
          <a:lstStyle/>
          <a:p>
            <a:pPr algn="ctr" hangingPunct="1">
              <a:buNone/>
              <a:defRPr lang="ja-JP" altLang="en-US" dirty="0" smtClean="0" sz="24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400" b="1">
                <a:solidFill>
                  <a:srgbClr val="D97706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初期負荷・指摘過多</a:t>
            </a:r>
            <a:endParaRPr lang="ja-JP" altLang="en-US" dirty="0" smtClean="0" sz="2400" b="1">
              <a:solidFill>
                <a:srgbClr val="D97706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6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 b="1">
                <a:solidFill>
                  <a:srgbClr val="111827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111827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対応策</a:t>
            </a:r>
            <a:endParaRPr lang="ja-JP" altLang="en-US" dirty="0" smtClean="0" sz="2200" b="1">
              <a:solidFill>
                <a:srgbClr val="111827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3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段階導入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2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スモールスタート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6" name="Risk3"/>
          <p:cNvSpPr/>
          <p:nvPr/>
        </p:nvSpPr>
        <p:spPr>
          <a:xfrm>
            <a:off x="7740000" y="1152000"/>
            <a:ext cx="3420000" cy="324000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CA8A04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44000" rIns="180000" bIns="90000">
            <a:noAutofit/>
          </a:bodyPr>
          <a:lstStyle/>
          <a:p>
            <a:pPr algn="ctr" hangingPunct="1">
              <a:buNone/>
              <a:defRPr lang="ja-JP" altLang="en-US" dirty="0" smtClean="0" sz="2400" b="1">
                <a:solidFill>
                  <a:srgbClr val="CA8A0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400" b="1">
                <a:solidFill>
                  <a:srgbClr val="CA8A0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抵抗・受容の遅れ</a:t>
            </a:r>
            <a:endParaRPr lang="ja-JP" altLang="en-US" dirty="0" smtClean="0" sz="2400" b="1">
              <a:solidFill>
                <a:srgbClr val="CA8A04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6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 b="1">
                <a:solidFill>
                  <a:srgbClr val="111827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111827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対応策</a:t>
            </a:r>
            <a:endParaRPr lang="ja-JP" altLang="en-US" dirty="0" smtClean="0" sz="2200" b="1">
              <a:solidFill>
                <a:srgbClr val="111827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3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3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効果の可視化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成功事例共有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勉強会実施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7" name="Summary"/>
          <p:cNvSpPr/>
          <p:nvPr/>
        </p:nvSpPr>
        <p:spPr>
          <a:xfrm>
            <a:off x="540000" y="4680000"/>
            <a:ext cx="10620000" cy="10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B7280"/>
            </a:solidFill>
          </a:ln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22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→ リスクを事前に認識し、段階的かつ計画的に導入を進める</a:t>
            </a:r>
            <a:endParaRPr lang="ja-JP" altLang="en-US" dirty="0" smtClean="0" sz="22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8" name="PageNumber"/>
          <p:cNvSpPr/>
          <p:nvPr/>
        </p:nvSpPr>
        <p:spPr>
          <a:xfrm>
            <a:off x="5760000" y="6480000"/>
            <a:ext cx="1080000" cy="360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9</a:t>
            </a:r>
            <a:endParaRPr lang="ja-JP" altLang="en-US" dirty="0" smtClean="0" sz="1400">
              <a:solidFill>
                <a:srgbClr val="6B7280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88000"/>
            <a:ext cx="11112119" cy="648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l" hangingPunct="1">
              <a:buNone/>
              <a:def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結論</a:t>
            </a:r>
            <a:endParaRPr lang="ja-JP" altLang="en-US" dirty="0" smtClean="0" sz="40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Bar"/>
          <p:cNvSpPr/>
          <p:nvPr/>
        </p:nvSpPr>
        <p:spPr>
          <a:xfrm>
            <a:off x="540000" y="1044000"/>
            <a:ext cx="1440000" cy="432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4" name="Essence"/>
          <p:cNvSpPr/>
          <p:nvPr/>
        </p:nvSpPr>
        <p:spPr>
          <a:xfrm>
            <a:off x="540000" y="1152000"/>
            <a:ext cx="5220000" cy="3240000"/>
          </a:xfrm>
          <a:prstGeom prst="roundRect">
            <a:avLst/>
          </a:prstGeom>
          <a:gradFill>
            <a:gsLst>
              <a:gs pos="0">
                <a:srgbClr val="EBF4FF"/>
              </a:gs>
              <a:gs pos="100000">
                <a:srgbClr val="E6F0FF"/>
              </a:gs>
            </a:gsLst>
            <a:lin ang="8100000" scaled="1"/>
          </a:gradFill>
          <a:ln w="25400">
            <a:solidFill>
              <a:srgbClr val="0078D4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216000" tIns="180000" rIns="180000" bIns="90000">
            <a:noAutofit/>
          </a:bodyPr>
          <a:lstStyle/>
          <a:p>
            <a:pPr algn="ctr" hangingPunct="1">
              <a:buNone/>
              <a:defRPr lang="ja-JP" altLang="en-US" dirty="0" smtClean="0" sz="32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32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本質</a:t>
            </a:r>
            <a:endParaRPr lang="ja-JP" altLang="en-US" dirty="0" smtClean="0" sz="3200" b="1">
              <a:solidFill>
                <a:srgbClr val="0078D4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6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単なるAI導入ではなく</a:t>
            </a:r>
            <a:endParaRPr lang="ja-JP" altLang="en-US" dirty="0" smtClean="0" sz="22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4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4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開発組織の変革を目指す。</a:t>
            </a:r>
            <a:endParaRPr lang="ja-JP" altLang="en-US" dirty="0" smtClean="0" sz="2400" b="1">
              <a:solidFill>
                <a:srgbClr val="0078D4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4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人間の判断価値を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 b="1">
                <a:solidFill>
                  <a:srgbClr val="0078D4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最大化する仕組み化を実現する。</a:t>
            </a:r>
            <a:endParaRPr lang="ja-JP" altLang="en-US" dirty="0" smtClean="0" sz="2200" b="1">
              <a:solidFill>
                <a:srgbClr val="0078D4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5" name="Goal"/>
          <p:cNvSpPr/>
          <p:nvPr/>
        </p:nvSpPr>
        <p:spPr>
          <a:xfrm>
            <a:off x="5940000" y="1152000"/>
            <a:ext cx="5220000" cy="3240000"/>
          </a:xfrm>
          <a:prstGeom prst="roundRect">
            <a:avLst/>
          </a:prstGeom>
          <a:gradFill>
            <a:gsLst>
              <a:gs pos="0">
                <a:srgbClr val="F0FDF4"/>
              </a:gs>
              <a:gs pos="100000">
                <a:srgbClr val="D1FAE5"/>
              </a:gs>
            </a:gsLst>
            <a:lin ang="8100000" scaled="1"/>
          </a:gradFill>
          <a:ln w="25400">
            <a:solidFill>
              <a:srgbClr val="059669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216000" tIns="180000" rIns="180000" bIns="90000">
            <a:noAutofit/>
          </a:bodyPr>
          <a:lstStyle/>
          <a:p>
            <a:pPr algn="ctr" hangingPunct="1">
              <a:buNone/>
              <a:defRPr lang="ja-JP" altLang="en-US" dirty="0" smtClean="0" sz="3200" b="1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3200" b="1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最終到達像</a:t>
            </a:r>
            <a:endParaRPr lang="ja-JP" altLang="en-US" dirty="0" smtClean="0" sz="3200" b="1">
              <a:solidFill>
                <a:srgbClr val="059669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6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6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AIが部門プロジェクトの</a:t>
            </a:r>
            <a:endParaRPr lang="ja-JP" altLang="en-US" dirty="0" smtClean="0" sz="22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2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全コンテクストを理解し</a:t>
            </a:r>
            <a:endParaRPr lang="ja-JP" altLang="en-US" dirty="0" smtClean="0" sz="22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4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374151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チームメンバーとして</a:t>
            </a:r>
            <a:endParaRPr lang="ja-JP" altLang="en-US" dirty="0" smtClean="0" sz="2000">
              <a:solidFill>
                <a:srgbClr val="374151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400" b="1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400" b="1">
                <a:solidFill>
                  <a:srgbClr val="059669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機能する組織。</a:t>
            </a:r>
            <a:endParaRPr lang="ja-JP" altLang="en-US" dirty="0" smtClean="0" sz="2400" b="1">
              <a:solidFill>
                <a:srgbClr val="059669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6" name="Emphasis"/>
          <p:cNvSpPr/>
          <p:nvPr/>
        </p:nvSpPr>
        <p:spPr>
          <a:xfrm>
            <a:off x="540000" y="4680000"/>
            <a:ext cx="10620000" cy="1080000"/>
          </a:xfrm>
          <a:prstGeom prst="roundRect">
            <a:avLst/>
          </a:prstGeom>
          <a:gradFill>
            <a:gsLst>
              <a:gs pos="0">
                <a:srgbClr val="1A365D"/>
              </a:gs>
              <a:gs pos="100000">
                <a:srgbClr val="1E40AF"/>
              </a:gs>
            </a:gsLst>
            <a:lin ang="5400000" scaled="1"/>
          </a:gradFill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26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6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→ 開発組織の持続的成長と競争力強化を実現</a:t>
            </a:r>
            <a:endParaRPr lang="ja-JP" altLang="en-US" dirty="0" smtClean="0" sz="26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7" name="PageNumber"/>
          <p:cNvSpPr/>
          <p:nvPr/>
        </p:nvSpPr>
        <p:spPr>
          <a:xfrm>
            <a:off x="5760000" y="6480000"/>
            <a:ext cx="1080000" cy="360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10</a:t>
            </a:r>
            <a:endParaRPr lang="ja-JP" altLang="en-US" dirty="0" smtClean="0" sz="1400">
              <a:solidFill>
                <a:srgbClr val="6B7280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88000"/>
            <a:ext cx="11112119" cy="648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l" hangingPunct="1">
              <a:buNone/>
              <a:def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今後の展望</a:t>
            </a:r>
            <a:endParaRPr lang="ja-JP" altLang="en-US" dirty="0" smtClean="0" sz="40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Bar"/>
          <p:cNvSpPr/>
          <p:nvPr/>
        </p:nvSpPr>
        <p:spPr>
          <a:xfrm>
            <a:off x="540000" y="1044000"/>
            <a:ext cx="2880000" cy="432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4" name="ShortTerm"/>
          <p:cNvSpPr/>
          <p:nvPr/>
        </p:nvSpPr>
        <p:spPr>
          <a:xfrm>
            <a:off x="540000" y="1152000"/>
            <a:ext cx="3420000" cy="3060000"/>
          </a:xfrm>
          <a:prstGeom prst="roundRect">
            <a:avLst/>
          </a:prstGeom>
          <a:gradFill>
            <a:gsLst>
              <a:gs pos="0">
                <a:srgbClr val="0078D4"/>
              </a:gs>
              <a:gs pos="100000">
                <a:srgbClr val="1E40AF"/>
              </a:gs>
            </a:gsLst>
            <a:lin ang="81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44000" rIns="180000" bIns="90000">
            <a:noAutofit/>
          </a:bodyPr>
          <a:lstStyle/>
          <a:p>
            <a:pPr algn="ctr" hangingPunct="1">
              <a:buNone/>
              <a:defRPr lang="ja-JP" altLang="en-US" dirty="0" smtClean="0" sz="30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30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短期</a:t>
            </a:r>
            <a:endParaRPr lang="ja-JP" altLang="en-US" dirty="0" smtClean="0" sz="30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4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ガイドライン整備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2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エージェント定義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プロトタイプ作成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2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スモールプロジェクトで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PoC実施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cxnSp>
        <p:nvCxnSpPr>
          <p:cNvPr id="5" name="Arrow1"/>
          <p:cNvCxnSpPr/>
          <p:nvPr/>
        </p:nvCxnSpPr>
        <p:spPr>
          <a:xfrm>
            <a:off x="3960000" y="2682000"/>
            <a:ext cx="360000" cy="1"/>
          </a:xfrm>
          <a:prstGeom prst="straightConnector1">
            <a:avLst/>
          </a:prstGeom>
          <a:ln w="50800">
            <a:solidFill>
              <a:srgbClr val="0078D4"/>
            </a:solidFill>
            <a:tailEnd type="triangle" w="lg" len="lg"/>
          </a:ln>
        </p:spPr>
      </p:cxnSp>
      <p:sp>
        <p:nvSpPr>
          <p:cNvPr id="6" name="MidTerm"/>
          <p:cNvSpPr/>
          <p:nvPr/>
        </p:nvSpPr>
        <p:spPr>
          <a:xfrm>
            <a:off x="4320000" y="1152000"/>
            <a:ext cx="3420000" cy="3060000"/>
          </a:xfrm>
          <a:prstGeom prst="roundRect">
            <a:avLst/>
          </a:prstGeom>
          <a:gradFill>
            <a:gsLst>
              <a:gs pos="0">
                <a:srgbClr val="059669"/>
              </a:gs>
              <a:gs pos="100000">
                <a:srgbClr val="0D9488"/>
              </a:gs>
            </a:gsLst>
            <a:lin ang="81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44000" rIns="180000" bIns="90000">
            <a:noAutofit/>
          </a:bodyPr>
          <a:lstStyle/>
          <a:p>
            <a:pPr algn="ctr" hangingPunct="1">
              <a:buNone/>
              <a:defRPr lang="ja-JP" altLang="en-US" dirty="0" smtClean="0" sz="30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30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中期</a:t>
            </a:r>
            <a:endParaRPr lang="ja-JP" altLang="en-US" dirty="0" smtClean="0" sz="30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4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GitHub Actions連携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による自動レビュー導入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2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ドキュメント更新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ワークフロー確立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cxnSp>
        <p:nvCxnSpPr>
          <p:cNvPr id="7" name="Arrow2"/>
          <p:cNvCxnSpPr/>
          <p:nvPr/>
        </p:nvCxnSpPr>
        <p:spPr>
          <a:xfrm>
            <a:off x="7740000" y="2682000"/>
            <a:ext cx="360000" cy="1"/>
          </a:xfrm>
          <a:prstGeom prst="straightConnector1">
            <a:avLst/>
          </a:prstGeom>
          <a:ln w="50800">
            <a:solidFill>
              <a:srgbClr val="059669"/>
            </a:solidFill>
            <a:tailEnd type="triangle" w="lg" len="lg"/>
          </a:ln>
        </p:spPr>
      </p:cxnSp>
      <p:sp>
        <p:nvSpPr>
          <p:cNvPr id="8" name="LongTerm"/>
          <p:cNvSpPr/>
          <p:nvPr/>
        </p:nvSpPr>
        <p:spPr>
          <a:xfrm>
            <a:off x="8100000" y="1152000"/>
            <a:ext cx="3060000" cy="3060000"/>
          </a:xfrm>
          <a:prstGeom prst="roundRect">
            <a:avLst/>
          </a:prstGeom>
          <a:gradFill>
            <a:gsLst>
              <a:gs pos="0">
                <a:srgbClr val="D97706"/>
              </a:gs>
              <a:gs pos="100000">
                <a:srgbClr val="B45309"/>
              </a:gs>
            </a:gsLst>
            <a:lin ang="81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anchor="t" anchorCtr="0" lIns="180000" tIns="144000" rIns="180000" bIns="90000">
            <a:noAutofit/>
          </a:bodyPr>
          <a:lstStyle/>
          <a:p>
            <a:pPr algn="ctr" hangingPunct="1">
              <a:buNone/>
              <a:defRPr lang="ja-JP" altLang="en-US" dirty="0" smtClean="0" sz="30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3000" b="1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長期</a:t>
            </a:r>
            <a:endParaRPr lang="ja-JP" altLang="en-US" dirty="0" smtClean="0" sz="3000" b="1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4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4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組織横断展開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"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/>
            </a:r>
            <a:endParaRPr lang="ja-JP" altLang="en-US" dirty="0" smtClean="0" sz="200"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• AI精度とナレッジ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蓄積の定量評価と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000">
                <a:solidFill>
                  <a:srgbClr val="FFFFFF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  改善サイクル確立</a:t>
            </a:r>
            <a:endParaRPr lang="ja-JP" altLang="en-US" dirty="0" smtClean="0" sz="2000">
              <a:solidFill>
                <a:srgbClr val="FFFFFF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9" name="Summary"/>
          <p:cNvSpPr/>
          <p:nvPr/>
        </p:nvSpPr>
        <p:spPr>
          <a:xfrm>
            <a:off x="540000" y="4500000"/>
            <a:ext cx="10620000" cy="126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B7280"/>
            </a:solidFill>
          </a:ln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24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4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→ 段階的に導入し、成果を確認しながら組織全体へ展開</a:t>
            </a:r>
            <a:endParaRPr lang="ja-JP" altLang="en-US" dirty="0" smtClean="0" sz="24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10" name="PageNumber"/>
          <p:cNvSpPr/>
          <p:nvPr/>
        </p:nvSpPr>
        <p:spPr>
          <a:xfrm>
            <a:off x="5760000" y="6480000"/>
            <a:ext cx="1080000" cy="360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11</a:t>
            </a:r>
            <a:endParaRPr lang="ja-JP" altLang="en-US" dirty="0" smtClean="0" sz="1400">
              <a:solidFill>
                <a:srgbClr val="6B7280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ssage"/>
          <p:cNvSpPr/>
          <p:nvPr/>
        </p:nvSpPr>
        <p:spPr>
          <a:xfrm>
            <a:off x="540000" y="2520000"/>
            <a:ext cx="11112119" cy="1440000"/>
          </a:xfrm>
          <a:prstGeom prst="rect">
            <a:avLst/>
          </a:prstGeom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54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5400" b="1">
                <a:solidFill>
                  <a:srgbClr val="1A365D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ご清聴ありがとうございました</a:t>
            </a:r>
            <a:endParaRPr lang="ja-JP" altLang="en-US" dirty="0" smtClean="0" sz="5400" b="1">
              <a:solidFill>
                <a:srgbClr val="1A365D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SubMessage"/>
          <p:cNvSpPr/>
          <p:nvPr/>
        </p:nvSpPr>
        <p:spPr>
          <a:xfrm>
            <a:off x="540000" y="4140000"/>
            <a:ext cx="11112119" cy="720000"/>
          </a:xfrm>
          <a:prstGeom prst="rect">
            <a:avLst/>
          </a:prstGeom>
        </p:spPr>
        <p:txBody>
          <a:bodyPr wrap="square" anchor="ctr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2600">
                <a:solidFill>
                  <a:srgbClr val="4A5568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2600">
                <a:solidFill>
                  <a:srgbClr val="4A5568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部門横断コード チーム</a:t>
            </a:r>
            <a:endParaRPr lang="ja-JP" altLang="en-US" dirty="0" smtClean="0" sz="2600">
              <a:solidFill>
                <a:srgbClr val="4A5568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4" name="BottomLine"/>
          <p:cNvSpPr/>
          <p:nvPr/>
        </p:nvSpPr>
        <p:spPr>
          <a:xfrm>
            <a:off x="4680000" y="5220000"/>
            <a:ext cx="2880000" cy="540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5" name="PageNumber"/>
          <p:cNvSpPr/>
          <p:nvPr/>
        </p:nvSpPr>
        <p:spPr>
          <a:xfrm>
            <a:off x="5760000" y="6480000"/>
            <a:ext cx="1080000" cy="360000"/>
          </a:xfrm>
          <a:prstGeom prst="rect">
            <a:avLst/>
          </a:prstGeom>
        </p:spPr>
        <p:txBody>
          <a:bodyPr wrap="square" anchor="t" anchorCtr="0" lIns="180000" tIns="90000" rIns="180000" bIns="90000">
            <a:noAutofit/>
          </a:bodyPr>
          <a:lstStyle/>
          <a:p>
            <a:pPr algn="ctr" hangingPunct="1">
              <a:buNone/>
              <a:def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defRPr>
            </a:pPr>
            <a:r>
              <a:rPr lang="ja-JP" altLang="en-US" dirty="0" smtClean="0" sz="1400">
                <a:solidFill>
                  <a:srgbClr val="6B7280"/>
                </a:solidFill>
                <a:ea typeface="Meiryo UI" panose="020B0604030504040204" charset="-128"/>
                <a:latin typeface="Meiryo UI" panose="020B0604030504040204" charset="-128"/>
                <a:cs typeface="Meiryo UI" panose="020B0604030504040204" charset="-128"/>
              </a:rPr>
              <a:t>12</a:t>
            </a:r>
            <a:endParaRPr lang="ja-JP" altLang="en-US" dirty="0" smtClean="0" sz="1400">
              <a:solidFill>
                <a:srgbClr val="6B7280"/>
              </a:solidFill>
              <a:ea typeface="Meiryo UI" panose="020B0604030504040204" charset="-128"/>
              <a:latin typeface="Meiryo UI" panose="020B0604030504040204" charset="-128"/>
              <a:cs typeface="Meiryo UI" panose="020B060403050404020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デジタル部門テンプレート_Options１">
  <a:themeElements>
    <a:clrScheme name="ユーザー定義 7">
      <a:dk1>
        <a:sysClr val="windowText" lastClr="000000"/>
      </a:dk1>
      <a:lt1>
        <a:sysClr val="window" lastClr="FFFFFF"/>
      </a:lt1>
      <a:dk2>
        <a:srgbClr val="0088CD"/>
      </a:dk2>
      <a:lt2>
        <a:srgbClr val="8096A3"/>
      </a:lt2>
      <a:accent1>
        <a:srgbClr val="8096A3"/>
      </a:accent1>
      <a:accent2>
        <a:srgbClr val="0088CD"/>
      </a:accent2>
      <a:accent3>
        <a:srgbClr val="70B42C"/>
      </a:accent3>
      <a:accent4>
        <a:srgbClr val="E88000"/>
      </a:accent4>
      <a:accent5>
        <a:srgbClr val="D82531"/>
      </a:accent5>
      <a:accent6>
        <a:srgbClr val="893672"/>
      </a:accent6>
      <a:hlink>
        <a:srgbClr val="0000FF"/>
      </a:hlink>
      <a:folHlink>
        <a:srgbClr val="7030A0"/>
      </a:folHlink>
    </a:clrScheme>
    <a:fontScheme name="ユーザー定義 26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kumimoji="1" sz="1600"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  <a:headEnd type="none" w="med" len="med"/>
          <a:tailEnd type="none" w="med" len="med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kumimoji="1" sz="160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2738</Words>
  <Application>WPS Presentation</Application>
  <PresentationFormat>ワイド画面</PresentationFormat>
  <Paragraphs>384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ＭＳ Ｐゴシック</vt:lpstr>
      <vt:lpstr>Wingdings</vt:lpstr>
      <vt:lpstr>Arial</vt:lpstr>
      <vt:lpstr>ＭＳ Ｐゴシック</vt:lpstr>
      <vt:lpstr>Meiryo UI</vt:lpstr>
      <vt:lpstr>Microsoft YaHei</vt:lpstr>
      <vt:lpstr>Arial Unicode MS</vt:lpstr>
      <vt:lpstr>メイリオ</vt:lpstr>
      <vt:lpstr>Calibri</vt:lpstr>
      <vt:lpstr>デジタル部門テンプレート_Options１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Sanjukta Datta</dc:creator>
  <cp:lastModifiedBy>h-ham</cp:lastModifiedBy>
  <cp:revision>111</cp:revision>
  <cp:lastPrinted>2015-03-27T02:26:00Z</cp:lastPrinted>
  <dcterms:created xsi:type="dcterms:W3CDTF">2014-11-11T09:42:00Z</dcterms:created>
  <dcterms:modified xsi:type="dcterms:W3CDTF">2026-01-24T03:53:30Z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0x010100626F2472E3CA8C46B06573FF3D8F6954</vt:lpwstr>
  </property>
  <property fmtid="{D5CDD505-2E9C-101B-9397-08002B2CF9AE}" pid="3" name="MediaServiceImageTags">
    <vt:lpwstr/>
  </property>
  <property fmtid="{D5CDD505-2E9C-101B-9397-08002B2CF9AE}" pid="4" name="KSOProductBuildVer">
    <vt:lpwstr>1041-11.8.2.8498</vt:lpwstr>
  </property>
</Properties>
</file>